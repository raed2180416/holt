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be038433514c50" /><Relationship Type="http://schemas.openxmlformats.org/officeDocument/2006/relationships/extended-properties" Target="/docProps/app.xml" Id="R3f84e7840e4e4951" /><Relationship Type="http://schemas.openxmlformats.org/officeDocument/2006/relationships/officeDocument" Target="/ppt/presentation.xml" Id="Rc16a7a3d665c45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d6116e5bd94cde"/>
  </p:sldMasterIdLst>
  <p:notesMasterIdLst>
    <p:notesMasterId xmlns:r="http://schemas.openxmlformats.org/officeDocument/2006/relationships" r:id="Rd16c0332c5e84bf0"/>
  </p:notesMasterIdLst>
  <p:sldIdLst>
    <p:sldId xmlns:r="http://schemas.openxmlformats.org/officeDocument/2006/relationships" id="256" r:id="R425a087f5fec4854"/>
    <p:sldId xmlns:r="http://schemas.openxmlformats.org/officeDocument/2006/relationships" id="257" r:id="Raf1c99491afa45c9"/>
    <p:sldId xmlns:r="http://schemas.openxmlformats.org/officeDocument/2006/relationships" id="258" r:id="Re1f464887ed54e91"/>
    <p:sldId xmlns:r="http://schemas.openxmlformats.org/officeDocument/2006/relationships" id="259" r:id="R8346ceb746cc4fc5"/>
    <p:sldId xmlns:r="http://schemas.openxmlformats.org/officeDocument/2006/relationships" id="260" r:id="Rb95a905abe4a4e32"/>
    <p:sldId xmlns:r="http://schemas.openxmlformats.org/officeDocument/2006/relationships" id="261" r:id="R64fab0fec20d4815"/>
    <p:sldId xmlns:r="http://schemas.openxmlformats.org/officeDocument/2006/relationships" id="262" r:id="Rc12f5c4a342a4926"/>
    <p:sldId xmlns:r="http://schemas.openxmlformats.org/officeDocument/2006/relationships" id="263" r:id="Rdf2ad6d0064c4094"/>
    <p:sldId xmlns:r="http://schemas.openxmlformats.org/officeDocument/2006/relationships" id="264" r:id="R02a5ea011d1f457d"/>
    <p:sldId xmlns:r="http://schemas.openxmlformats.org/officeDocument/2006/relationships" id="265" r:id="Re51d4c3e190d4344"/>
    <p:sldId xmlns:r="http://schemas.openxmlformats.org/officeDocument/2006/relationships" id="266" r:id="Rf1a7bd983b334378"/>
    <p:sldId xmlns:r="http://schemas.openxmlformats.org/officeDocument/2006/relationships" id="267" r:id="R57acd67d080f4e64"/>
    <p:sldId xmlns:r="http://schemas.openxmlformats.org/officeDocument/2006/relationships" id="268" r:id="R73240c65616a4d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b8e077da044f93" /><Relationship Type="http://schemas.openxmlformats.org/officeDocument/2006/relationships/slideMaster" Target="/ppt/slideMasters/slideMaster1.xml" Id="R25d6116e5bd94cde" /><Relationship Type="http://schemas.openxmlformats.org/officeDocument/2006/relationships/notesMaster" Target="/ppt/notesMasters/notesMaster1.xml" Id="Rd16c0332c5e84bf0" /><Relationship Type="http://schemas.openxmlformats.org/officeDocument/2006/relationships/presProps" Target="/ppt/presProps.xml" Id="R9cd973f3ec734298" /><Relationship Type="http://schemas.openxmlformats.org/officeDocument/2006/relationships/tableStyles" Target="/ppt/tableStyles.xml" Id="R65d7d47634174326" /><Relationship Type="http://schemas.openxmlformats.org/officeDocument/2006/relationships/slide" Target="/ppt/slides/slide1.xml" Id="R425a087f5fec4854" /><Relationship Type="http://schemas.openxmlformats.org/officeDocument/2006/relationships/slide" Target="/ppt/slides/slide2.xml" Id="Raf1c99491afa45c9" /><Relationship Type="http://schemas.openxmlformats.org/officeDocument/2006/relationships/slide" Target="/ppt/slides/slide3.xml" Id="Re1f464887ed54e91" /><Relationship Type="http://schemas.openxmlformats.org/officeDocument/2006/relationships/slide" Target="/ppt/slides/slide4.xml" Id="R8346ceb746cc4fc5" /><Relationship Type="http://schemas.openxmlformats.org/officeDocument/2006/relationships/slide" Target="/ppt/slides/slide5.xml" Id="Rb95a905abe4a4e32" /><Relationship Type="http://schemas.openxmlformats.org/officeDocument/2006/relationships/slide" Target="/ppt/slides/slide6.xml" Id="R64fab0fec20d4815" /><Relationship Type="http://schemas.openxmlformats.org/officeDocument/2006/relationships/slide" Target="/ppt/slides/slide7.xml" Id="Rc12f5c4a342a4926" /><Relationship Type="http://schemas.openxmlformats.org/officeDocument/2006/relationships/slide" Target="/ppt/slides/slide8.xml" Id="Rdf2ad6d0064c4094" /><Relationship Type="http://schemas.openxmlformats.org/officeDocument/2006/relationships/slide" Target="/ppt/slides/slide9.xml" Id="R02a5ea011d1f457d" /><Relationship Type="http://schemas.openxmlformats.org/officeDocument/2006/relationships/slide" Target="/ppt/slides/slide10.xml" Id="Re51d4c3e190d4344" /><Relationship Type="http://schemas.openxmlformats.org/officeDocument/2006/relationships/slide" Target="/ppt/slides/slide11.xml" Id="Rf1a7bd983b334378" /><Relationship Type="http://schemas.openxmlformats.org/officeDocument/2006/relationships/slide" Target="/ppt/slides/slide12.xml" Id="R57acd67d080f4e64" /><Relationship Type="http://schemas.openxmlformats.org/officeDocument/2006/relationships/slide" Target="/ppt/slides/slide13.xml" Id="R73240c65616a4d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5a4a7ce05f42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f30a0cf4d54da5" /><Relationship Type="http://schemas.openxmlformats.org/officeDocument/2006/relationships/notesMaster" Target="/ppt/notesMasters/notesMaster1.xml" Id="R8f50273b207340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1c952c932b473b" /><Relationship Type="http://schemas.openxmlformats.org/officeDocument/2006/relationships/notesMaster" Target="/ppt/notesMasters/notesMaster1.xml" Id="Raa50f4cc518f42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3be383014447b8" /><Relationship Type="http://schemas.openxmlformats.org/officeDocument/2006/relationships/notesMaster" Target="/ppt/notesMasters/notesMaster1.xml" Id="Rb073c89b0a1d48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5229015aa44589" /><Relationship Type="http://schemas.openxmlformats.org/officeDocument/2006/relationships/notesMaster" Target="/ppt/notesMasters/notesMaster1.xml" Id="R39da8158ac4c47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e1da58ed554c95" /><Relationship Type="http://schemas.openxmlformats.org/officeDocument/2006/relationships/notesMaster" Target="/ppt/notesMasters/notesMaster1.xml" Id="Ra23efbd9305e48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3fa7b5ac0e4b59" /><Relationship Type="http://schemas.openxmlformats.org/officeDocument/2006/relationships/notesMaster" Target="/ppt/notesMasters/notesMaster1.xml" Id="R0058f784673c46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87b19028b0473a" /><Relationship Type="http://schemas.openxmlformats.org/officeDocument/2006/relationships/notesMaster" Target="/ppt/notesMasters/notesMaster1.xml" Id="R75e3e53373b541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3bcceae688414f" /><Relationship Type="http://schemas.openxmlformats.org/officeDocument/2006/relationships/notesMaster" Target="/ppt/notesMasters/notesMaster1.xml" Id="R915d1b25a06e42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155b582ace47be" /><Relationship Type="http://schemas.openxmlformats.org/officeDocument/2006/relationships/notesMaster" Target="/ppt/notesMasters/notesMaster1.xml" Id="R01a7bec3049442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19ff26d253429c" /><Relationship Type="http://schemas.openxmlformats.org/officeDocument/2006/relationships/notesMaster" Target="/ppt/notesMasters/notesMaster1.xml" Id="Rf418ac09cf5045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6c18736fb34a62" /><Relationship Type="http://schemas.openxmlformats.org/officeDocument/2006/relationships/notesMaster" Target="/ppt/notesMasters/notesMaster1.xml" Id="R19ba1f47b2054c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88fdd7812e4684" /><Relationship Type="http://schemas.openxmlformats.org/officeDocument/2006/relationships/notesMaster" Target="/ppt/notesMasters/notesMaster1.xml" Id="R184f4abafa6e4a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bfc70aab894ffc" /><Relationship Type="http://schemas.openxmlformats.org/officeDocument/2006/relationships/notesMaster" Target="/ppt/notesMasters/notesMaster1.xml" Id="R8b4f74eaebbc46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category change: coding agents can create work faster than repositories can safely coordinate it. Holt is not another agent; it is the independent transaction layer around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https://git-scm.com/docs/git-worktree</a:t>
            </a:r>
          </a:p>
          <a:p xmlns:a="http://schemas.openxmlformats.org/drawingml/2006/main">
            <a:r>
              <a:t>- https://github.com/Raed2180416/holt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Git worktrees are powerful primitives, but the coordination and recovery semantics around many autonomous workers are left to scripts and human memory. Holt focuses on that missing seam.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https://git-scm.com/docs/git-worktree</a:t>
            </a:r>
          </a:p>
          <a:p xmlns:a="http://schemas.openxmlformats.org/drawingml/2006/main">
            <a:r>
              <a:t>- https://github.com/Raed2180416/holt/blob/main/docs/FEATURE-PROOF-MATRIX.md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wedge exists because agent concurrency changes repository risk. The investor claim is a structural category thesis, not a claimed market-size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https://openai.com/index/introducing-the-codex-app/</a:t>
            </a:r>
          </a:p>
          <a:p xmlns:a="http://schemas.openxmlformats.org/drawingml/2006/main">
            <a:r>
              <a:t>- https://claude.com/product/claude-code</a:t>
            </a:r>
          </a:p>
          <a:p xmlns:a="http://schemas.openxmlformats.org/drawingml/2006/main">
            <a:r>
              <a:t>- https://git-scm.com/docs/git-worktree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differentiation: Holt is a neutral repository transaction membrane. It can be used by many agents and IDEs because it does not need to be their planner.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</a:t>
            </a:r>
          </a:p>
          <a:p xmlns:a="http://schemas.openxmlformats.org/drawingml/2006/main">
            <a:r>
              <a:t>- https://github.com/Raed2180416/holt/blob/main/README.md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product in this order: inspect, relate, gate, recover. The safest default is quarantine and evidence, not irreversible deletion.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https://github.com/Raed2180416/holt/blob/main/README.md</a:t>
            </a:r>
          </a:p>
          <a:p xmlns:a="http://schemas.openxmlformats.org/drawingml/2006/main">
            <a:r>
              <a:t>- https://github.com/Raed2180416/holt/blob/main/docs/FEATURE-PROOF-MATRIX.md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 this plainly. Holt has a working free/local product and extensive internal feature proofs. It does not yet have customer traction, a paid SKU, or enterprise production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https://github.com/Raed2180416/holt/blob/main/README.md</a:t>
            </a:r>
          </a:p>
          <a:p xmlns:a="http://schemas.openxmlformats.org/drawingml/2006/main">
            <a:r>
              <a:t>- https://github.com/Raed2180416/holt/blob/main/docs/FEATURE-PROOF-MATRIX.md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an ICP hypothesis, not a customer list. The design-partner program should test whether concurrency and recovery are painful enough to earn repeated use and budget.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https://github.com/Raed2180416/holt/blob/main/docs/launch/DESIGN-PARTNER-PROGRAM.md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durable advantage comes from accumulated failure evidence, recovery semantics, cross-host conformance, and neutrality across agent ecosystems. This is the hypothesis funding will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https://github.com/Raed2180416/holt/blob/main/docs/FEATURE-PROOF-MATRIX.md</a:t>
            </a:r>
          </a:p>
          <a:p xmlns:a="http://schemas.openxmlformats.org/drawingml/2006/main">
            <a:r>
              <a:t>- https://github.com/Raed2180416/holt/blob/main/docs/PROOF-GRADE-CONTRACT.md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sell imaginary SKUs. The immediate objective is repeated design-partner use and scoped paid evaluations. Packaging follows observed value and procurement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https://github.com/Raed2180416/holt/blob/main/docs/launch/PRESEED-BRIEF.md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GTM motion is a concrete challenge, not a generic product demo. Targets are proposed milestones, not current traction.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https://github.com/Raed2180416/holt/blob/main/docs/launch/DESIGN-PARTNER-PROGRAM.md</a:t>
            </a:r>
          </a:p>
          <a:p xmlns:a="http://schemas.openxmlformats.org/drawingml/2006/main">
            <a:r>
              <a:t>- https://github.com/Raed2180416/holt/blob/main/docs/launch/PRESEED-BRIEF.md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plan is intentionally falsifiable. Cross-platform conformance, repeated use, and a paid acceptance test matter more than adding more commands.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https://github.com/Raed2180416/holt/blob/main/docs/launch/PRESEED-BRIEF.md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proposed financing envelope. Confirm runway, instrument, valuation, and founder/team facts before sending. The investment case is to prove repeatable demand and a defensible transaction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https://github.com/Raed2180416/holt/blob/main/docs/launch/PRESEED-BRIEF.md</a:t>
            </a:r>
          </a:p>
          <a:p xmlns:a="http://schemas.openxmlformats.org/drawingml/2006/main">
            <a:r>
              <a:t>- https://github.com/Raed2180416/holt/blob/main/docs/launch/FUNDRAISING-APPLICATION-PACK.md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category bet and invite a concrete next step: investor diligence or a 15-minute destructive-worktree challenge.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https://github.com/Raed2180416/holt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fda5aa279847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d4d20efa9e40da" /><Relationship Type="http://schemas.openxmlformats.org/officeDocument/2006/relationships/slideLayout" Target="/ppt/slideLayouts/slideLayout1.xml" Id="Rd97a76c7456647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7a76c7456647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a9106d730487c" /><Relationship Type="http://schemas.openxmlformats.org/officeDocument/2006/relationships/notesSlide" Target="/ppt/notesSlides/notesSlide1.xml" Id="Reabf444005fd48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fe6b3251344d0" /><Relationship Type="http://schemas.openxmlformats.org/officeDocument/2006/relationships/notesSlide" Target="/ppt/notesSlides/notesSlide2.xml" Id="R9f31ae54512c4f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ab800b4134fb7" /><Relationship Type="http://schemas.openxmlformats.org/officeDocument/2006/relationships/notesSlide" Target="/ppt/notesSlides/notesSlide3.xml" Id="R81618f4a667245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f348bb6684fe7" /><Relationship Type="http://schemas.openxmlformats.org/officeDocument/2006/relationships/notesSlide" Target="/ppt/notesSlides/notesSlide4.xml" Id="R303986e0853d47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387a26800c40bc" /><Relationship Type="http://schemas.openxmlformats.org/officeDocument/2006/relationships/notesSlide" Target="/ppt/notesSlides/notesSlide5.xml" Id="R9ab644cf50bc4e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ff9ae524c4f44" /><Relationship Type="http://schemas.openxmlformats.org/officeDocument/2006/relationships/notesSlide" Target="/ppt/notesSlides/notesSlide6.xml" Id="Rab5b8f9b53114ec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a143eff0449ed" /><Relationship Type="http://schemas.openxmlformats.org/officeDocument/2006/relationships/notesSlide" Target="/ppt/notesSlides/notesSlide7.xml" Id="Rf12dbf9f9e9446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ba0d8b27e4a8f" /><Relationship Type="http://schemas.openxmlformats.org/officeDocument/2006/relationships/notesSlide" Target="/ppt/notesSlides/notesSlide8.xml" Id="Rdd44f44a79b340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16ec8a7294d06" /><Relationship Type="http://schemas.openxmlformats.org/officeDocument/2006/relationships/notesSlide" Target="/ppt/notesSlides/notesSlide9.xml" Id="R36d22f340387484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6cfd1d88648e2" /><Relationship Type="http://schemas.openxmlformats.org/officeDocument/2006/relationships/notesSlide" Target="/ppt/notesSlides/notesSlide10.xml" Id="R6e594d137e6645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27f47a47843f2" /><Relationship Type="http://schemas.openxmlformats.org/officeDocument/2006/relationships/notesSlide" Target="/ppt/notesSlides/notesSlide11.xml" Id="R3cfbb263610341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88f84786c4a44" /><Relationship Type="http://schemas.openxmlformats.org/officeDocument/2006/relationships/notesSlide" Target="/ppt/notesSlides/notesSlide12.xml" Id="R1c61cfff91cb4ea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ff8be8ee7e4b28" /><Relationship Type="http://schemas.openxmlformats.org/officeDocument/2006/relationships/notesSlide" Target="/ppt/notesSlides/notesSlide13.xml" Id="Rbbc947e3e61b44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0930C-5927-411F-94BE-37334A43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DE4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DE4D8"/>
                </a:solidFill>
                <a:latin typeface="Helvetica Neue"/>
                <a:ea typeface="Helvetica Neue"/>
                <a:cs typeface="Helvetica Neue"/>
              </a:rPr>
              <a:t>HOLT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CAFA9-5720-4C78-9F39-CC5EB793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Parallel agents need</a:t>
            </a:r>
          </a:p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transaction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7B27D2-EEC2-45E5-B697-B5EB53C5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33875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DE4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CDE4D8"/>
                </a:solidFill>
                <a:latin typeface="Helvetica Neue"/>
                <a:ea typeface="Helvetica Neue"/>
                <a:cs typeface="Helvetica Neue"/>
              </a:rPr>
              <a:t>Holt makes destructive repository action inspectable, recoverable, and accountable before the damage becomes a PR.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E44F8-B5CE-4524-96A0-F5F2C4D3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76750"/>
            <a:ext cx="1619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6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5246D-FA1A-402E-96C9-B4360AC8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10125"/>
            <a:ext cx="1181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PRE-SEED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AUG 2026</a:t>
            </a:r>
          </a:p>
        </p:txBody>
      </p:sp>
    </p:spTree>
    <p:extLst>
      <p:ext uri="{BB962C8B-B14F-4D97-AF65-F5344CB8AC3E}">
        <p14:creationId xmlns:p14="http://schemas.microsoft.com/office/powerpoint/2010/main" val="4073283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CDDEC3-86CE-4F49-A1CF-BFE4E508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B060C-C398-42CD-9FFE-E7A5F5AE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E12ADB-2D5E-4492-8A46-B2057D11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CA5728-624E-43E6-8540-02C030D8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The failure happens before CI.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9D274A-5948-477B-991D-182801D2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12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Multiple agents share one repository, but Git still sees files and branches—not intent, ownership, or safe cleanup authority.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1BE01-6E96-4554-8A74-DA62F035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3429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6E5988-2724-475B-A6AD-147FF882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76050-95F2-4B59-8136-08E01EE8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RELATE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1ECBF0-8E7C-4567-B795-15B84436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43350"/>
            <a:ext cx="2914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Which worktree, branch, stash, receipt, and uncommitted bytes belong to the same task?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930FF0-DC8E-4A4C-AF8B-23F5F2B0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724150"/>
            <a:ext cx="3429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4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90036-8F7F-47AE-88F3-ADFC123F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4E9B5-ED0B-4FB9-809D-14A85AD5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290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PROTECT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69DBC1-34DE-4104-B600-FB9DE855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43350"/>
            <a:ext cx="2914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Is cleanup actually safe, or is unique work hidden behind a plausible command?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AF038B-1F64-44C7-8056-840F0C7C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24150"/>
            <a:ext cx="3429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EA62A-1FEA-4372-9B6F-863580DB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52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A3C2D8-5157-4685-A358-6CFB4005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290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267AF5-423E-4D39-9F87-37A588F7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14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If an action fails halfway, what can be restored—and what remains in doubt?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3C11F8-E9E0-4F97-B0B8-CB29037D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361227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DD42BB-1B92-46A9-90B6-E5CAEF33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WHY 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F5344-FB46-4DD7-BFB1-A73CD2EA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FD8BE-5F5D-416B-831F-EBF829F5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12929-54C0-4E79-ABF1-675FC68F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733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Agents are multiplying execution.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BD6EA-77D3-4ED0-A493-58FE28CC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933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The repository safety model did not multiply with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EA847-8B5F-46C0-9FE6-DF5CC4EF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81375"/>
            <a:ext cx="34290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4AE67-443E-4996-BDAB-4CE1D873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MORE ACTORS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4B2F2F-6ECD-486A-93FF-5D7BF892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Parallel workers create branches, worktrees, patches, receipts, and interrupted state.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ED036D-C711-4704-9211-AF83D9D5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81375"/>
            <a:ext cx="34290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15514-54BA-4BBF-8E04-8B3CA95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195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MORE VELOCITY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19A20-29FB-48DE-AAB0-90FCB4F2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95750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Automation compresses the time between a proposal and a destructive command.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07394-B173-4216-85AF-752A1064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81375"/>
            <a:ext cx="34290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0005B-99F3-4D1E-AF54-7C8C0D4A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195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SAME AUTHORITY GAP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BD276-B0F2-447D-BE1F-B6E68D8C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95750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The acting agent is still often asked to judge whether its own cleanup is safe.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02177A-D1AA-41D8-85FB-0A67785B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3287923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35184-B080-4608-B2A4-3D7FF020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THE WEDGE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A0CCA-5234-45E7-8607-53451383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C8E0F-8DC5-42F3-B763-4379C1D7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3CD23-32DC-4C9D-B2BE-9EF2C5D7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Holt is independent of the agent that acted.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72669F-C7D3-419F-A3A2-8FB864FB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A local, evidence-first decision layer between a coding system and destructive Git/worktree operations.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CAF70-C552-4619-8725-524CB94F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51435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CCAC5-06E5-4FF0-9A78-C45021D2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55435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566B14-26F9-4273-9FB8-DD932FFB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WITHOUT HOLT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AE1943-AC25-4BB4-B5B2-76830E38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4238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Agent proposes action</a:t>
            </a:r>
          </a:p>
          <a:p xmlns:a="http://schemas.openxmlformats.org/drawingml/2006/main">
            <a:pPr algn="l">
              <a:defRPr sz="21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Agent judges safety</a:t>
            </a:r>
          </a:p>
          <a:p xmlns:a="http://schemas.openxmlformats.org/drawingml/2006/main">
            <a:pPr algn="l">
              <a:defRPr sz="21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Agent executes cleanup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DE45B-3AF7-4AB2-BFFA-7CBEC76A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71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DE4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CDE4D8"/>
                </a:solidFill>
                <a:latin typeface="Helvetica Neue"/>
                <a:ea typeface="Helvetica Neue"/>
                <a:cs typeface="Helvetica Neue"/>
              </a:rPr>
              <a:t>WITH HOLT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E6D167-FCF0-4150-B0D0-22F4FEA3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4476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Observe state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Build evidence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Gate action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Preserve recovery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92347E-F2FB-4CEF-A775-E87224CF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482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67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DE4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CDE4D8"/>
                </a:solidFill>
                <a:latin typeface="Helvetica Neue"/>
                <a:ea typeface="Helvetica Neue"/>
                <a:cs typeface="Helvetica Neue"/>
              </a:rPr>
              <a:t>One agent cannot promote its own confidence into deletion authority.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A5F283-4A96-4EC9-972B-872E2D93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770150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AEF812-FC77-4479-B738-1B46FE38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CEFBF-D330-4C49-BA7C-F8C0C2AE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48162-6115-4705-9006-1592078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B6321A-0354-43EA-85E2-CFA1C7C6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Four steps. One recoverable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8596A9-1953-4953-8711-22821F4B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The current free local core works against native Git worktrees without uploading source code.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9ADD4-E6E6-4166-84B6-535AB5ED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D631C-F9BE-403D-9A30-BBF42ECC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765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AF3EB-FEF6-41B2-A864-0B8EDFDC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4805F-0A0B-4E53-9E9F-07E334E9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148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INSPECT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5C284-8AAD-4F77-851F-132C3336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33900"/>
            <a:ext cx="2333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Enumerate worktrees, branches, stashes, dirt, receipts, and risk.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89BB1C-2551-42A7-B5E0-DCAD081A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765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469E0-1837-497D-8CD9-4B34FDD9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813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D9871-C406-4593-870A-F45E69D2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148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RELATE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BD3DBF-BAF1-4776-91F7-6F0BE330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33900"/>
            <a:ext cx="2333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Connect state to a task and identify unique, landed, or unverifiable work.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A3410-E5CA-44EE-8CE4-FCE2A997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0765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6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700DE8-B58B-449C-A858-2871BDF2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813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5AF6A3-08E2-4209-86CC-465C3101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1148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690A36-7D31-403D-BEC7-5FAE518B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333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Return disposable, hold, or unverifiable before a destructive action.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F94462-9677-446E-9CAD-DF9D477F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076575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CB4F3C-D10C-4E1F-B037-241EEAE7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813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64FE55-3CEC-462C-99C3-DECC1523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148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06A5F7-76E8-48B7-A368-F1A8103C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333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Quarantine first; preserve journals and rescue references for rollback.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08A6B9-E866-4D59-8EE3-930A218C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16479549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BB7B1-CCA1-4641-8C03-D388013B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TRUTH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84B41-C38F-4C03-A7AB-B9C039DD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D0D2FB-058C-4856-90B2-077B5F08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6BF3B-A606-4A81-93A3-2CAF6228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Working wedge. Pre-traction company.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96A50-0FD0-44EC-AA67-E721D8D0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The deck separates what is available now from what funding is meant to prove.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244F03-44C1-4BDA-88D0-05B9BF1E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55435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4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EC58C-6F3E-45D6-807A-A5E5ECF9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AVAILABLE 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9941C6-E60A-4311-A32B-20E481B6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Free local CLI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E66D4-AD61-44C4-936F-7F57F0B5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Native Git worktree inspection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DD112-56C5-47CA-83CB-05BC80B6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2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Read-only risk and gate commands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5335E-C1EE-4A57-9E96-EE1E15D8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Recovery-first quarantine and journal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E8BA7-60CE-413A-8349-6D852142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Local receipts and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57F45-62DB-4903-9AA3-E88DA13E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86050"/>
            <a:ext cx="55435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E907A-25A0-46BE-B874-24CA00B2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52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NOT CLAIMED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0255A8-BF38-4247-B64C-D3ECCEB5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5052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Customer traction or revenue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F4100-E560-4493-B02A-B86143CE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671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Production SLA or hosted control plane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30EACA-A4D5-4601-90A0-A04AD396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2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SSO / SCIM / enterprise readiness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3F28EB-32AC-4487-A8A1-70CCA0C5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591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Every repository shape on every 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7ACA60-E722-492E-AAB2-2B093336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953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• Measured productivity lift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1B01FF-1E44-4FF6-BB05-8ED1A5EC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2525723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CE6154-9EA5-45B1-96C5-B13D4017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BEACHHEAD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BE1180-085C-470C-84D9-0F8F5222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1DA5E-C9B5-4FE7-AE31-A1EABBA7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018EC-A76E-4941-8D22-48A28825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Start where concurrency already hurts.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DB056-4B16-4379-B18F-763224C0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First customer: a team already running several agents or worktrees in one active repository.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684D79-5262-4BAC-8686-6853CB69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USER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9F98CD-1440-46F6-AA93-D94F793B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667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Staff engineer / platform engineer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306F22-3ED6-4CB4-9689-B1C93946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670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Feels the incident and owns the repository workflow.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9E259-3087-4018-B147-A2988E8D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09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D1AF42-E8B9-4F2D-8F3E-38071DD5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385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CHAMPION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614707-468A-404C-81D9-CA21303E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6671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5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AI tooling or developer productivity lead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FA2D8-2E1B-430F-B7E9-931DB00E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67125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Wants more agent throughput without opaque cleanup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B93E8-4DFD-4BB2-88A9-06FEB443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00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ACCE8C-1363-458E-8D17-24AB3CFF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387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BUYER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BB27F-9344-44E0-87FC-2719012A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6725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5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Engineering leader / platform owner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A410B4-EAA6-4F6D-8190-D351DDE2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66725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Pays when repeated incidents, audit needs, or workflow policy justify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4B992D-254C-4195-ACE7-5898917E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CC28AB-CC7A-401C-8689-57F58B1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1574611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C85524-7447-4EBF-8D26-9633122A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WHY THIS COMPOUNDS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20312-C985-4B15-9EE3-4D606172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2BB4A-2EC2-4A8D-ADBC-08C49905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9D023-06E7-46C8-9B70-9F19167D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345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The moat is the evidence model—not the command count.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F6797-D5F8-4B1B-93B3-2D23A161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Every real incident can improve the transaction boundary across agents, hosts, and repository shapes.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F04D48-6F26-429B-8924-B604A760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55435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4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91A82-0AAE-4E82-BC7B-A104F9D5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RECOVERY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05C17-7F8C-4FC9-ABB4-557FD6DF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575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What can be restored, from which evidence, after partial failure.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E952B7-F64F-4058-967D-02B482AA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67000"/>
            <a:ext cx="55435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310E4-17FF-4371-BC95-86D8052F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765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ADVERSARIAL CORPUS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BA3231-16C9-433C-87CE-49795863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575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Broken worktrees, hidden dirt, stale receipts, and ambiguous merges become regression cases.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F0CB7-DA44-4856-B02F-1BD80249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5435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161E49-EEE8-4D0E-9A60-7840EB1D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053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CROSS-HOST CONTRACT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530D3-7C50-4E6F-A174-BCA349BA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A target for separately observed semantics across Linux, macOS, Windows, CI, IDEs, and agent hosts.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8E4612-45C2-44ED-97BF-B8F16F61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5435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DDB0A-FFEC-440A-8CD0-DC939A0C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053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WORKFLOW NEUTRALITY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E10988-EA4F-40D5-9468-BC556563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One independent layer can serve multiple coding agents instead of competing with them.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9C2CC8-20CC-4619-9272-BA82E91D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16821705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FA0EE3-D03B-432C-ACB7-9D82A0CC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BUSINESS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B6053-12F1-4AF9-A31B-DBA4A4D3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3ACA87-694D-4624-8079-B5976CA8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701EA3-808D-4FDB-A659-5501A968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Free core earns trust. Shared policy pays.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317F2-2F00-4C21-AC9D-A030F0D0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A staged commercial hypothesis—there is no public paid tier or checkout today.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A7D8C-2A0F-43D7-858B-C26EDB3C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34290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4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59AC07-2050-4691-9930-9C5AEBE3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C1E04-C0F1-402B-AEF1-DA1B4EB9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09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AF6D94-DD9F-4159-9E96-8218615A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295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Local CLI</a:t>
            </a:r>
          </a:p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Read-only decisions</a:t>
            </a:r>
          </a:p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Recovery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8FA01-A3E5-427B-A25D-24466EAB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705100"/>
            <a:ext cx="34290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DC3CA-09C3-4B44-B73C-6CD1CDCB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HYPOTHESIS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8D4AD-5A3E-4798-8CD8-388996C5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09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TEAM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34AB5-9480-40C0-810A-4E9CD065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095750"/>
            <a:ext cx="295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Shared policy</a:t>
            </a:r>
          </a:p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Host integrations</a:t>
            </a:r>
          </a:p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Incident collaboration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E3EB60-6220-4142-AD97-0E277AF3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05100"/>
            <a:ext cx="34290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6B7E1-82A7-48BA-B8A3-AD074D7E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52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4581E7-C0CB-413A-B550-43F12B15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09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ENTERPRISE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B5650-5535-4994-84E4-B24CB005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95750"/>
            <a:ext cx="295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Fleet governance</a:t>
            </a:r>
          </a:p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Identity and audit</a:t>
            </a:r>
          </a:p>
          <a:p xmlns:a="http://schemas.openxmlformats.org/drawingml/2006/main">
            <a:pPr algn="l">
              <a:def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Deployment controls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010B4-44CB-4EC7-92E6-9388819F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17738790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B3276D-D07A-48EC-BECE-E2AE325A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GO TO 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73E11-0F27-4EF9-AA6E-602266B0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AA6DF5-CAE5-4FBE-BDFF-89A3DB8D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3A15-4F53-49B5-BD21-A54FBC38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Sell the incident, then the control plane.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F2326-2E42-4C04-B5D6-755D43A4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A founder-led proof motion focused on repositories where the failure can be reproduced and measured.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841A4-BB72-4B6F-83E1-A76E62D8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D87532-EE98-46CE-89FB-238F95E3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28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CHALLENGE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A511B-21ED-4C68-A281-C198CC03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15-minute destructive-worktree test on an approved repo or disposable reproduction.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953499-8CEC-4485-80CD-F7E1A886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62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6F5BD-CC58-40FD-A0BE-08405923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30F7E-A185-4492-82C4-33A7EF78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100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Compare native workflow vs Holt on holds, false confidence, recovery, and operator time.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1658C3-D03A-48F5-9514-E570D220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62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B2D82-EBB4-4607-BC6F-A8E12A44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528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REPEAT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C8575-6DFD-4E30-9E82-A74F8922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100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Weekly use across live agent work; build references and a failure corpus.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82E7B5-5900-4BF7-9D9A-5156EA64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62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228202-276A-47E2-9061-F8D726DF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528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EXPAND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21B6F8-1603-44FE-9A77-9362F5F4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Integrate GitHub/CI and an agent host only after the local seam earns trust.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98EA34-270F-43FA-8CDC-4CECC700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1391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5861B8-106C-475E-8BE4-3F4795A4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825"/>
            <a:ext cx="10858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29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12-WEEK TARGET: 10 DESIGN PARTNERS • 3 PAID EVALUATIONS • 2 REFERENCES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F55BE2-E714-4D8C-9224-191E0B98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9079148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A10C2-F3B8-496B-9816-962338E1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MILESTONES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2597C-67C3-4D00-B4D4-A4B35665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38E18-75B5-4190-B300-E6EE1623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00E22-699A-4311-B0E0-E42B3504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Fund proof, not breadth.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04B147-8B95-47F3-B03A-3C27C591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Three de-risking gates convert founder-use evidence into a company—or falsify the wedge quickly.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A2D75-DEAB-412A-BE58-93EC6926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14625"/>
            <a:ext cx="3429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80346F-B685-4B40-97E2-81556114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WEEKS 0–4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C9CEAB-1783-4FB1-B8DC-8002BC43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RELEASE CONTRACT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B0B092-EBB7-4EA5-AD78-88524FC9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43375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Exact-head install and semantics across declared Linux, macOS, and Windows paths.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881B19-1129-4C4E-A270-AA861CC1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714625"/>
            <a:ext cx="3429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4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982B9-7373-492F-B7C4-837DAD04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952750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WEEKS 3–8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8CA538-AA1C-41B2-908B-4038569C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290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REPEATED USE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67A0D-8F6C-46EC-815C-FBDCDA49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143375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Design partners use Holt weekly; incidents produce replayable evidence and references.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5502D4-DD96-42B4-A376-0F6D5AFF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14625"/>
            <a:ext cx="3429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16C19C-FA0D-4867-8D9B-9F4FEA22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52750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WEEKS 7–12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9CF18-3FA8-4F1A-BE63-2FA9985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290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PAID EVALUATION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BD1FD3-5185-42F9-9FE7-D6CDBEBF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43375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Written acceptance tests, one GitHub/CI path, one agent-host path, and budget signal.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8E383-15CE-4C85-9C32-518528B3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054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Kill criteria are explicit: if teams do not repeat the workflow or pay for the seam, narrow or stop.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6F536A-B22E-441D-863D-65C4187B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738487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1602E-15EA-4565-AF77-62DBC9FD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THE RAISE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37F81-7B68-4DB2-8755-D3781D51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857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0A2D7-8A58-4FB8-87B7-A2B75A9F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D0BE6-2C1B-4CF6-AB3F-02D2404F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457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00" b="1">
                <a:solidFill>
                  <a:srgbClr val="173F35"/>
                </a:solidFill>
                <a:latin typeface="Helvetica Neue"/>
                <a:ea typeface="Helvetica Neue"/>
                <a:cs typeface="Helvetica Neue"/>
              </a:rPr>
              <a:t>$1M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1CE022-2974-4629-9F8C-434516FB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289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18-month pre-seed hypothesis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6705B-A8BA-42CB-A4C1-9F9FF1A6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623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The amount, instrument, valuation, and team plan require founder and legal confirmation.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0E355E-484C-4214-95F3-2E1DE33A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066800"/>
            <a:ext cx="554355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7D6CC-83F3-4295-89D5-3B9339DF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352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66A4A"/>
                </a:solidFill>
                <a:latin typeface="Helvetica Neue"/>
                <a:ea typeface="Helvetica Neue"/>
                <a:cs typeface="Helvetica Neue"/>
              </a:rPr>
              <a:t>WHAT CAPITAL MUST 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2D975-4581-4BEA-8A7A-7736FA84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1.  10 design-partner teams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264D6-3474-4A8E-ACB5-5ECF92B3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050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2.  3 paid evaluations or pilots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D5260-4E85-4AA3-A4C0-C9165713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5752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3.  A repeatable incident and recovery corpus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15FD3-524A-467D-8808-0E903DF2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099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4.  Linux / macOS / Windows release 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1BDA03-02C8-44C6-96C0-A4770C11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16242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0231D"/>
                </a:solidFill>
                <a:latin typeface="Helvetica Neue"/>
                <a:ea typeface="Helvetica Neue"/>
                <a:cs typeface="Helvetica Neue"/>
              </a:rPr>
              <a:t>5.  One CI path + one agent-host integration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A73155-E78A-4916-9EC1-AD136CDA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62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6736E"/>
                </a:solidFill>
                <a:latin typeface="Helvetica Neue"/>
                <a:ea typeface="Helvetica Neue"/>
                <a:cs typeface="Helvetica Neue"/>
              </a:rPr>
              <a:t>HOLT / PRE-SEED / AUGUST 2026</a:t>
            </a:r>
          </a:p>
        </p:txBody>
      </p:sp>
    </p:spTree>
    <p:extLst>
      <p:ext uri="{BB962C8B-B14F-4D97-AF65-F5344CB8AC3E}">
        <p14:creationId xmlns:p14="http://schemas.microsoft.com/office/powerpoint/2010/main" val="2441608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7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DBFCF-F87F-4041-9FA1-646FDA60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DE4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CDE4D8"/>
                </a:solidFill>
                <a:latin typeface="Helvetica Neue"/>
                <a:ea typeface="Helvetica Neue"/>
                <a:cs typeface="Helvetica Neue"/>
              </a:rPr>
              <a:t>THE BET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92AC8-C57A-4E03-BA17-F073D768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85875"/>
            <a:ext cx="10572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Every autonomous coding system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will need an independent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repository transaction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B4FDF-5815-4346-9104-58034A34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857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DE4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CDE4D8"/>
                </a:solidFill>
                <a:latin typeface="Helvetica Neue"/>
                <a:ea typeface="Helvetica Neue"/>
                <a:cs typeface="Helvetica Neue"/>
              </a:rPr>
              <a:t>Holt starts with the moment developers cannot afford to get wrong: deciding what is safe to destroy—and proving how to recover.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0AB62D-B44B-4AC0-9CFB-4A3FBBBC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48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research.contrare@outlook.com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8D5BB-2E8A-4C9A-A520-AD756D2F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6048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github.com/Raed2180416/holt</a:t>
            </a:r>
          </a:p>
        </p:txBody>
      </p:sp>
    </p:spTree>
    <p:extLst>
      <p:ext uri="{BB962C8B-B14F-4D97-AF65-F5344CB8AC3E}">
        <p14:creationId xmlns:p14="http://schemas.microsoft.com/office/powerpoint/2010/main" val="906624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2026-08-11T13:19:47.1680000Z</dcterms:created>
  <dcterms:modified xsi:type="dcterms:W3CDTF">2026-08-11T13:19:47.1680000Z</dcterms:modified>
</coreProperties>
</file>