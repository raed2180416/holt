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7489a71d484437" /><Relationship Type="http://schemas.openxmlformats.org/officeDocument/2006/relationships/extended-properties" Target="/docProps/app.xml" Id="R4a33b84fea8a42d3" /><Relationship Type="http://schemas.openxmlformats.org/officeDocument/2006/relationships/officeDocument" Target="/ppt/presentation.xml" Id="R2139912e3786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dcab387c64b75"/>
  </p:sldMasterIdLst>
  <p:notesMasterIdLst>
    <p:notesMasterId xmlns:r="http://schemas.openxmlformats.org/officeDocument/2006/relationships" r:id="R17221fc9b6774a42"/>
  </p:notesMasterIdLst>
  <p:sldIdLst>
    <p:sldId xmlns:r="http://schemas.openxmlformats.org/officeDocument/2006/relationships" id="256" r:id="Rf3552ff785684619"/>
    <p:sldId xmlns:r="http://schemas.openxmlformats.org/officeDocument/2006/relationships" id="257" r:id="Raf8f7bb2d1194107"/>
    <p:sldId xmlns:r="http://schemas.openxmlformats.org/officeDocument/2006/relationships" id="258" r:id="R0030bfdb81c64f5e"/>
    <p:sldId xmlns:r="http://schemas.openxmlformats.org/officeDocument/2006/relationships" id="259" r:id="R9f32447be1804f39"/>
    <p:sldId xmlns:r="http://schemas.openxmlformats.org/officeDocument/2006/relationships" id="260" r:id="Rdb68bcba4ebe4b86"/>
    <p:sldId xmlns:r="http://schemas.openxmlformats.org/officeDocument/2006/relationships" id="261" r:id="R0cef099784b04857"/>
    <p:sldId xmlns:r="http://schemas.openxmlformats.org/officeDocument/2006/relationships" id="262" r:id="Rf3671780cd904ca0"/>
    <p:sldId xmlns:r="http://schemas.openxmlformats.org/officeDocument/2006/relationships" id="263" r:id="R4a914967671b4dac"/>
    <p:sldId xmlns:r="http://schemas.openxmlformats.org/officeDocument/2006/relationships" id="264" r:id="R0a00c9de481f4537"/>
    <p:sldId xmlns:r="http://schemas.openxmlformats.org/officeDocument/2006/relationships" id="265" r:id="Rc355cb24ca3c4427"/>
    <p:sldId xmlns:r="http://schemas.openxmlformats.org/officeDocument/2006/relationships" id="266" r:id="R1cb6481f92d84e35"/>
    <p:sldId xmlns:r="http://schemas.openxmlformats.org/officeDocument/2006/relationships" id="267" r:id="Racf90c33117c4efe"/>
    <p:sldId xmlns:r="http://schemas.openxmlformats.org/officeDocument/2006/relationships" id="268" r:id="R70eaf1f64aca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8163a1b3ac43de" /><Relationship Type="http://schemas.openxmlformats.org/officeDocument/2006/relationships/slideMaster" Target="/ppt/slideMasters/slideMaster1.xml" Id="R1b8dcab387c64b75" /><Relationship Type="http://schemas.openxmlformats.org/officeDocument/2006/relationships/notesMaster" Target="/ppt/notesMasters/notesMaster1.xml" Id="R17221fc9b6774a42" /><Relationship Type="http://schemas.openxmlformats.org/officeDocument/2006/relationships/presProps" Target="/ppt/presProps.xml" Id="R88dabd33794d44a5" /><Relationship Type="http://schemas.openxmlformats.org/officeDocument/2006/relationships/tableStyles" Target="/ppt/tableStyles.xml" Id="Rb04445de17824a82" /><Relationship Type="http://schemas.openxmlformats.org/officeDocument/2006/relationships/slide" Target="/ppt/slides/slide1.xml" Id="Rf3552ff785684619" /><Relationship Type="http://schemas.openxmlformats.org/officeDocument/2006/relationships/slide" Target="/ppt/slides/slide2.xml" Id="Raf8f7bb2d1194107" /><Relationship Type="http://schemas.openxmlformats.org/officeDocument/2006/relationships/slide" Target="/ppt/slides/slide3.xml" Id="R0030bfdb81c64f5e" /><Relationship Type="http://schemas.openxmlformats.org/officeDocument/2006/relationships/slide" Target="/ppt/slides/slide4.xml" Id="R9f32447be1804f39" /><Relationship Type="http://schemas.openxmlformats.org/officeDocument/2006/relationships/slide" Target="/ppt/slides/slide5.xml" Id="Rdb68bcba4ebe4b86" /><Relationship Type="http://schemas.openxmlformats.org/officeDocument/2006/relationships/slide" Target="/ppt/slides/slide6.xml" Id="R0cef099784b04857" /><Relationship Type="http://schemas.openxmlformats.org/officeDocument/2006/relationships/slide" Target="/ppt/slides/slide7.xml" Id="Rf3671780cd904ca0" /><Relationship Type="http://schemas.openxmlformats.org/officeDocument/2006/relationships/slide" Target="/ppt/slides/slide8.xml" Id="R4a914967671b4dac" /><Relationship Type="http://schemas.openxmlformats.org/officeDocument/2006/relationships/slide" Target="/ppt/slides/slide9.xml" Id="R0a00c9de481f4537" /><Relationship Type="http://schemas.openxmlformats.org/officeDocument/2006/relationships/slide" Target="/ppt/slides/slide10.xml" Id="Rc355cb24ca3c4427" /><Relationship Type="http://schemas.openxmlformats.org/officeDocument/2006/relationships/slide" Target="/ppt/slides/slide11.xml" Id="R1cb6481f92d84e35" /><Relationship Type="http://schemas.openxmlformats.org/officeDocument/2006/relationships/slide" Target="/ppt/slides/slide12.xml" Id="Racf90c33117c4efe" /><Relationship Type="http://schemas.openxmlformats.org/officeDocument/2006/relationships/slide" Target="/ppt/slides/slide13.xml" Id="R70eaf1f64aca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cdf7f4e43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87624e5dc468f" /><Relationship Type="http://schemas.openxmlformats.org/officeDocument/2006/relationships/notesMaster" Target="/ppt/notesMasters/notesMaster1.xml" Id="R7cad2c6ced1344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f575d5bf264b0c" /><Relationship Type="http://schemas.openxmlformats.org/officeDocument/2006/relationships/notesMaster" Target="/ppt/notesMasters/notesMaster1.xml" Id="Rbf4e77194ca0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6782ae41f495a" /><Relationship Type="http://schemas.openxmlformats.org/officeDocument/2006/relationships/notesMaster" Target="/ppt/notesMasters/notesMaster1.xml" Id="Rf64fe48affde4d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6b5bf7fff74eda" /><Relationship Type="http://schemas.openxmlformats.org/officeDocument/2006/relationships/notesMaster" Target="/ppt/notesMasters/notesMaster1.xml" Id="Rd505511a9a4e45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40fa8a9a149cc" /><Relationship Type="http://schemas.openxmlformats.org/officeDocument/2006/relationships/notesMaster" Target="/ppt/notesMasters/notesMaster1.xml" Id="R51540fc0cc3e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8255b1bf58483c" /><Relationship Type="http://schemas.openxmlformats.org/officeDocument/2006/relationships/notesMaster" Target="/ppt/notesMasters/notesMaster1.xml" Id="R6e3564a2c6f9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f6e81c86944cf1" /><Relationship Type="http://schemas.openxmlformats.org/officeDocument/2006/relationships/notesMaster" Target="/ppt/notesMasters/notesMaster1.xml" Id="Re467cc1ff6514d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a75c382a804cce" /><Relationship Type="http://schemas.openxmlformats.org/officeDocument/2006/relationships/notesMaster" Target="/ppt/notesMasters/notesMaster1.xml" Id="R225ca221b72f44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96eabf30e247ee" /><Relationship Type="http://schemas.openxmlformats.org/officeDocument/2006/relationships/notesMaster" Target="/ppt/notesMasters/notesMaster1.xml" Id="R1ff08d3c6ca5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41263fcf3c4a7d" /><Relationship Type="http://schemas.openxmlformats.org/officeDocument/2006/relationships/notesMaster" Target="/ppt/notesMasters/notesMaster1.xml" Id="R3ea522548b024a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8fc652b251454a" /><Relationship Type="http://schemas.openxmlformats.org/officeDocument/2006/relationships/notesMaster" Target="/ppt/notesMasters/notesMaster1.xml" Id="R897eb550064b4b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6be8e694f84a75" /><Relationship Type="http://schemas.openxmlformats.org/officeDocument/2006/relationships/notesMaster" Target="/ppt/notesMasters/notesMaster1.xml" Id="Rb03ec7810bd049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71ef7ca72d4638" /><Relationship Type="http://schemas.openxmlformats.org/officeDocument/2006/relationships/notesMaster" Target="/ppt/notesMasters/notesMaster1.xml" Id="R8dcec9fa9a32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 change: coding agents can create work faster than repositories can safely coordinate it. Holt is not another agent; it is the independent transaction layer around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https://git-scm.com/docs/git-worktree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worktrees are powerful primitives, but the coordination and recovery semantics around many autonomous workers are left to scripts and human memory. Holt focuses on that missing seam.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https://git-scm.com/docs/git-worktree</a:t>
            </a:r>
          </a:p>
          <a:p xmlns:a="http://schemas.openxmlformats.org/drawingml/2006/main">
            <a:r>
              <a:t>- https://github.com/Raed2180416/holt/blob/main/docs/FEATURE-PROOF-MATRIX.md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wedge exists because agent concurrency changes repository risk. The investor claim is a structural category thesis, not a claimed market-size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https://claude.com/product/claude-code</a:t>
            </a:r>
          </a:p>
          <a:p xmlns:a="http://schemas.openxmlformats.org/drawingml/2006/main">
            <a:r>
              <a:t>- https://git-scm.com/docs/git-worktree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differentiation: Holt is a neutral repository transaction membrane. It can be used by many agents and IDEs because it does not need to be their planner.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- https://github.com/Raed2180416/holt/blob/main/README.md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product in this order: inspect, relate, gate, recover. The safest default is quarantine and evidence, not irreversible deletion.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https://github.com/Raed2180416/holt/blob/main/README.md</a:t>
            </a:r>
          </a:p>
          <a:p xmlns:a="http://schemas.openxmlformats.org/drawingml/2006/main">
            <a:r>
              <a:t>- https://github.com/Raed2180416/holt/blob/main/docs/FEATURE-PROOF-MATRIX.md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plainly. Holt has a working free/local product and extensive internal feature proofs. It does not yet have customer traction, a paid SKU, or enterprise production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https://github.com/Raed2180416/holt/blob/main/README.md</a:t>
            </a:r>
          </a:p>
          <a:p xmlns:a="http://schemas.openxmlformats.org/drawingml/2006/main">
            <a:r>
              <a:t>- https://github.com/Raed2180416/holt/blob/main/docs/FEATURE-PROOF-MATRIX.md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ICP hypothesis, not a customer list. The design-partner program should test whether concurrency and recovery are painful enough to earn repeated use and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https://github.com/Raed2180416/holt/blob/main/docs/launch/DESIGN-PARTNER-PROGRAM.md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durable advantage comes from accumulated failure evidence, recovery semantics, cross-host conformance, and neutrality across agent ecosystems. This is the hypothesis funding will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https://github.com/Raed2180416/holt/blob/main/docs/FEATURE-PROOF-MATRIX.md</a:t>
            </a:r>
          </a:p>
          <a:p xmlns:a="http://schemas.openxmlformats.org/drawingml/2006/main">
            <a:r>
              <a:t>- https://github.com/Raed2180416/holt/blob/main/docs/PROOF-GRADE-CONTRACT.md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sell imaginary SKUs. The immediate objective is repeated design-partner use and scoped paid evaluations. Packaging follows observed value and procurement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https://github.com/Raed2180416/holt/blob/main/docs/launch/PRESEED-BRIEF.md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GTM motion is a concrete challenge, not a generic product demo. Targets are proposed milestones, not current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https://github.com/Raed2180416/holt/blob/main/docs/launch/DESIGN-PARTNER-PROGRAM.md</a:t>
            </a:r>
          </a:p>
          <a:p xmlns:a="http://schemas.openxmlformats.org/drawingml/2006/main">
            <a:r>
              <a:t>- https://github.com/Raed2180416/holt/blob/main/docs/launch/PRESEED-BRIEF.md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plan is intentionally falsifiable. Cross-platform conformance, repeated use, and a paid acceptance test matter more than adding more commands.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https://github.com/Raed2180416/holt/blob/main/docs/launch/PRESEED-BRIEF.md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financing envelope. Confirm runway, instrument, valuation, and founder/team facts before sending. The investment case is to prove repeatable demand and a defensible transaction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https://github.com/Raed2180416/holt/blob/main/docs/launch/PRESEED-BRIEF.md</a:t>
            </a:r>
          </a:p>
          <a:p xmlns:a="http://schemas.openxmlformats.org/drawingml/2006/main">
            <a:r>
              <a:t>- https://github.com/Raed2180416/holt/blob/main/docs/launch/FUNDRAISING-APPLICATION-PACK.md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category bet and invite a concrete next step: investor diligence or a 15-minute destructive-worktree challenge.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745fc022e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5a908bde346d9" /><Relationship Type="http://schemas.openxmlformats.org/officeDocument/2006/relationships/slideLayout" Target="/ppt/slideLayouts/slideLayout1.xml" Id="Rf301635d77a4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1635d77a4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ca9447e034649" /><Relationship Type="http://schemas.openxmlformats.org/officeDocument/2006/relationships/notesSlide" Target="/ppt/notesSlides/notesSlide1.xml" Id="R4ee33b3913064a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6b1431f9642f4" /><Relationship Type="http://schemas.openxmlformats.org/officeDocument/2006/relationships/notesSlide" Target="/ppt/notesSlides/notesSlide2.xml" Id="R853e7097f30d43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3e8d21bd34100" /><Relationship Type="http://schemas.openxmlformats.org/officeDocument/2006/relationships/notesSlide" Target="/ppt/notesSlides/notesSlide3.xml" Id="R7ee6085aab85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891e0730045e5" /><Relationship Type="http://schemas.openxmlformats.org/officeDocument/2006/relationships/notesSlide" Target="/ppt/notesSlides/notesSlide4.xml" Id="Rb5516ba0207b42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722f5cc2c464c" /><Relationship Type="http://schemas.openxmlformats.org/officeDocument/2006/relationships/notesSlide" Target="/ppt/notesSlides/notesSlide5.xml" Id="Rf73f3136e7df46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5f93456fe4998" /><Relationship Type="http://schemas.openxmlformats.org/officeDocument/2006/relationships/notesSlide" Target="/ppt/notesSlides/notesSlide6.xml" Id="R80a6e0639ed34a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935cb87542a9" /><Relationship Type="http://schemas.openxmlformats.org/officeDocument/2006/relationships/notesSlide" Target="/ppt/notesSlides/notesSlide7.xml" Id="Rb6720f7eac0c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fcbbf403041d8" /><Relationship Type="http://schemas.openxmlformats.org/officeDocument/2006/relationships/notesSlide" Target="/ppt/notesSlides/notesSlide8.xml" Id="R495debcb19f74b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9afde0f0e427c" /><Relationship Type="http://schemas.openxmlformats.org/officeDocument/2006/relationships/notesSlide" Target="/ppt/notesSlides/notesSlide9.xml" Id="R74f4c07fffbe49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534fa75ff4d59" /><Relationship Type="http://schemas.openxmlformats.org/officeDocument/2006/relationships/notesSlide" Target="/ppt/notesSlides/notesSlide10.xml" Id="Rbd3c067bf04245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b8d7d6b034945" /><Relationship Type="http://schemas.openxmlformats.org/officeDocument/2006/relationships/notesSlide" Target="/ppt/notesSlides/notesSlide11.xml" Id="Rbee5a21c877a4b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7dedffdee4a27" /><Relationship Type="http://schemas.openxmlformats.org/officeDocument/2006/relationships/notesSlide" Target="/ppt/notesSlides/notesSlide12.xml" Id="R9607d7f8c41d43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7139191774b98" /><Relationship Type="http://schemas.openxmlformats.org/officeDocument/2006/relationships/notesSlide" Target="/ppt/notesSlides/notesSlide13.xml" Id="R856b95b60b23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BAE70-7503-4858-A0EB-B4F4C939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HOLT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AC9C6-636F-453A-8217-4893CAE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Parallel agents need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transaction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BCD38-59C0-46A9-92BB-17645F5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Holt makes destructive repository action inspectable, recoverable, and accountable before the damage becomes a PR.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D398E-3328-4618-9A54-3F7EC4C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A108D-F4B6-4CDE-BEB0-137A955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10125"/>
            <a:ext cx="118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PRE-SEED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AUG 2026</a:t>
            </a:r>
          </a:p>
        </p:txBody>
      </p:sp>
    </p:spTree>
    <p:extLst>
      <p:ext uri="{BB962C8B-B14F-4D97-AF65-F5344CB8AC3E}">
        <p14:creationId xmlns:p14="http://schemas.microsoft.com/office/powerpoint/2010/main" val="1117843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BEDA9-690C-4A77-9F91-81243516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300C2-0921-4588-8B7A-7274676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02D66-234B-48DC-86E2-B98D2070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2A740-F259-49E4-A12F-9B6A0ACC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The failure happens before CI.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BFD42-9B49-43B2-BD77-DCC6E65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Multiple agents share one repository, but Git still sees files and branches—not intent, ownership, or safe cleanup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D193B-AFD5-4D45-9EE1-47D56D8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FB901-6AE2-4044-BC72-1267D4F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99421-A494-41BF-BEA4-0DDB0302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B1DA1-77CD-4B12-86F8-7AFA687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91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Which worktree, branch, stash, receipt, and uncommitted bytes belong to the same task?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D51F9-0225-4371-89ED-7AD5B628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24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8AA5D-D533-46F0-BC45-B9E53B1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6C425-A3F6-4242-8540-B9482F04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29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9F003-16C3-4C7C-886D-AA2D5E95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43350"/>
            <a:ext cx="291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Is cleanup actually safe, or is unique work hidden behind a plausible command?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E673E-DF64-4B69-85DB-9DE93FD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D4F5F-E1C1-4430-B286-B5E3110F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BFBCD-AFF3-4650-8404-6857D03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0448B-8658-4A8D-B40D-56F9DAE3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91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If an action fails halfway, what can be restored—and what remains in doubt?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22634-83C7-43F4-80F8-074C14E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62128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3AF2B-2B9C-445D-BE5F-79705E1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B7EB9-C085-4B29-8581-04A9169F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77475-FC86-403E-86CE-DCC0AB86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77933-9197-4EE0-BF07-9A97A46C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Agents are multiplying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1E40C-DFF3-488F-9776-04CE04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The repository safety model did not multiply with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18ABD-227E-4E14-8573-74CFCBD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42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0158A-1879-4727-ACC8-86BD514D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MORE ACTORS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975F8-07EC-4B34-B555-2B8B827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Parallel workers create branches, worktrees, patches, receipts, and interrupted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081A5-9AF7-4FD3-871A-53FAD510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81375"/>
            <a:ext cx="342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158B8-8D11-4EEA-96DA-6591ABE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MORE VELOCITY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CA124-FDFC-49F3-97A9-B28A2F20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Automation compresses the time between a proposal and a destructive command.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353E5-3146-4058-B03B-98572E4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42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9B260-A462-44A1-946E-1819467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SAME AUTHORITY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32257-6A5A-449D-B623-6307CC3F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acting agent is still often asked to judge whether its own cleanup is safe.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1EDE2-39A9-4CE1-B80B-19A90AFE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2018695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316C2-5832-419A-8F00-DD21D144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52F9-DB63-4547-9113-3B8456E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33AE6-A56F-4E7B-A97C-BA7F6A6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EB82C-9447-4B8C-ABDC-943E37D6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Holt is independent of the agent that acted.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9AC5F-7CA9-472C-9FA7-7C69229D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local, evidence-first decision layer between a coding system and destructive Git/worktree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3B37F-7DAD-47A3-ACFB-483ECB21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5143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4F1A2-757D-4925-8B31-FA93C162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5543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5B089-AEE0-4B54-9B96-4612BB20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WITHOUT HOLT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02967-6FBE-4B34-BEFD-E5EF5192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238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Agent proposes action</a:t>
            </a:r>
          </a:p>
          <a:p xmlns:a="http://schemas.openxmlformats.org/drawingml/2006/main">
            <a:pPr algn="l">
              <a:def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Agent judges safety</a:t>
            </a:r>
          </a:p>
          <a:p xmlns:a="http://schemas.openxmlformats.org/drawingml/2006/main">
            <a:pPr algn="l">
              <a:def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Agent executes cleanup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7D45A-D215-472D-8EFE-4BFD1CA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WITH HOLT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907AE-56AF-43AB-82BD-9D447CD5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Observe state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evidence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Gate action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Preserve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77FF3-8A17-4627-8F2C-4A5BBF9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One agent cannot promote its own confidence into deletion authority.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36800-EB4B-4AB8-8FC6-0F639F77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350926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80003-D27E-4D01-99C6-7DE21990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1C207-C449-4BC1-BA00-C9FE2F3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984A8-3524-4AFD-B7D3-5060EF87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0E9A-0545-40C2-9589-74C6B56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Four steps. One recoverable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3217C-0CBC-4BE5-AC2A-38137236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current free local core works against native Git worktrees without uploading source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D87C3-66D1-4BE0-90A9-88FD0560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40D50-2D22-46CF-ADA0-3167CFB4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F1B9F-D9AB-44E2-A0B5-6DD82F3A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7EB9A-4CAF-4E39-B5F8-3AD6C37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0876B-4746-489F-AB81-E67D3DF1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Enumerate worktrees, branches, stashes, dirt, receipts, and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089D1-B762-48D8-9070-F88BFE02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D28D3-1823-43DA-977C-F66C9532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3F8B0-5EAA-4D50-B0C5-3F9526D4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06D27-A3C7-4FF2-8DE3-8A1DE400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Connect state to a task and identify unique, landed, or unverifiable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40CB6-21E1-4A98-A15D-AEAD1C3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614F9-84A8-491A-AA3E-1B1C6AF9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561D1-D65D-4D7A-9041-B68A70BE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561C7-98E9-4CE4-8291-53B42CCD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Return disposable, hold, or unverifiable before a destructive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BC30C-6F75-4144-A51C-951FEF4E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E073D-74E1-49C0-B992-6CEA02FF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119DB-B2AD-4F02-813E-6C144B71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7CA22-C7D0-43AF-860F-06BC7A20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Quarantine first; preserve journals and rescue references for rollback.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1DE1F-D8C1-40E2-8AA2-191CD5F6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842086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AF029-B017-4F11-B325-4B65466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TRUTH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49AA2-795C-471A-8789-F8E3841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E51A2-FE36-4841-9FF6-C097C3C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4400B-ECE8-4B13-BE94-C538FAA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Working wedge. Pre-traction company.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6C639-B90A-4C09-9A0C-4F5BECE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deck separates what is available now from what funding is meant to prove.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172B3-7A78-41D6-B036-6B073BAD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5543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550AC-F5DF-4E83-8054-00CE759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AVAILABLE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E60FF-DF97-469B-8C67-5E00022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Free local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1F40F-91D2-40EA-9CBC-61D2765F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Native Git worktree inspection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A89CF-F64D-4087-8916-2B88166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Read-only risk and gate commands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C8C9C-CFD6-468A-BC76-D393AE0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Recovery-first quarantine and journal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CE553-885C-4462-B7B9-3139A6CE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Local receipts and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F4268-AEB4-4CD1-B4B4-92BE6F26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543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FB3B3-B9CD-4E93-AAAF-CE817A0C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NOT CLAIMED 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BCEFE-2D3E-401E-9A0D-1426B821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05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Customer traction or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4D90A-5CBD-4AB4-BD54-A8A93C2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Production SLA or hosted control plane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30C29-786B-45EA-812F-E74370F7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SSO / SCIM / enterprise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5ECC0-DC22-4525-BAD2-06378F2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Every repository shape on every 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E6A3C-A164-4921-AEBB-ED2552BB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Measured productivity lift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4EF36-0CFF-43A9-B377-BE9F222C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428804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72441-0018-485E-B006-172958A6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BEACHHEAD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2B5E-6475-4165-8014-46AB2D5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43D65-0984-4757-A503-E075ABE0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3D83A-B430-4AA4-9FCC-C5E52D58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Start where concurrency already hurts.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0A10D-AF73-4578-BC00-4E8AE711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first customer is a team using several coding agents or worktrees against the same active repository.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AF3BC-3EB6-4760-A6EF-0E2F02B5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48E5-274F-4EA9-B1D5-D78EE07B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67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Staff engineer / platform engineer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6AEC1-EC9E-4872-986F-4DCE3A4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Feels the incident and owns the repository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1DBA4-FC38-4008-BE8C-D37CA5A6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7A5FC-4D83-4BB1-8B1C-4F850034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8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E32D-0D22-4EC2-A856-CC75274B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67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AI tooling or developer productivity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FE866-5EFC-4085-B4DC-A414A897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Wants more agent throughput without opaque cleanup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FF425-7555-4620-A9DE-6AA78853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7C23E-1401-4F65-B929-C289AFFD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BUYER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C3342-A2F5-41E4-AC1A-5AC8335D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Engineering leader / platform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5ED73-05A8-439E-BE8B-E5867E4F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Pays when repeated incidents, audit needs, or workflow policy justify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42A9B-9ED3-4673-A696-FCB24DCF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625B1-BD73-4F8F-BEFA-8B1DC87B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1650317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F2357-552F-471A-A673-B287F7F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WHY THIS COMPOUNDS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C6894-5ED2-4822-B785-0215E4B4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C062D-F540-45F3-B48C-F22D543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8E67B-28B0-44AD-ACE4-76BA53E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45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The moat is the evidence model—not the command 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148FD-0CFD-4EB2-98FC-613EED55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Every real incident can improve the transaction boundary across agents, hosts, and repository shapes.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6D1FD-775F-446B-BEE4-845AD45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693CA-8481-414A-941B-488280F7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RECOVERY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EC771-5098-43D3-854F-77DCB6D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What can be restored, from which evidence, after partial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775BA-1A3F-450C-9610-3C3349C1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FF3D3-F576-4E11-B50F-8DBD636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ADVERSARIAL 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23A2F-53AD-4FB3-8E2C-219598F7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Broken worktrees, hidden dirt, stale receipts, and ambiguous merges become regression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835E5-BD9D-4ECB-93A3-2D353190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2034A-D546-4F6E-91CD-D192B3D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CROSS-HOST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662ED-2145-4F87-8745-1F74489D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Observed semantics across Linux, macOS, Windows, CI, IDEs, and agent hosts.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38409-49FD-4AB4-9D5F-DF69B5A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E3D70-263D-4965-895A-77F23CA5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WORKFLOW NEUTRALITY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0267E-F576-4EE2-A0D4-B1A3CB8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One independent layer can serve multiple coding agents instead of competing with them.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0E106-ABC2-4D17-990C-799DA1E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398088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C6480-EE05-4198-BE10-F3BA8F9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1D8DB-FAB7-45FA-B56A-48DE3A7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BC212-A2B7-424A-AA90-97542941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1FE6D-2570-4250-91C1-7F35E18E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Free core earns trust. Shared policy pays.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A0401-1CEC-4D7E-9281-D5E7BBE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staged commercial hypothesis—there is no public paid tier or checkout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360F5-8557-4CA0-AE92-97BDB5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1F051-B80B-47A9-9851-B944E69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5E6BC-5578-462C-89DA-C60A18C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F8DAB-1EBC-43BE-A526-1BA14220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Local CLI</a:t>
            </a:r>
          </a:p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Read-only decisions</a:t>
            </a:r>
          </a:p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Recovery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555B6-DCF9-400D-8913-26DFC17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051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5813B-53CA-4A35-B159-999038A4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43DE8-0E9A-4CCB-B576-331F0FB5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09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A2887-7964-4E82-892B-0C0F5564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Shared policy</a:t>
            </a:r>
          </a:p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Host integrations</a:t>
            </a:r>
          </a:p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Incident collaboration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0D1A0-2701-4979-8858-4C9C91D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898DB-DE18-4845-AC1D-BBE105B6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9430C-FCDC-458A-A311-A9301361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85112-8451-43AC-8058-D70B35B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Fleet governance</a:t>
            </a:r>
          </a:p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Identity and audit</a:t>
            </a:r>
          </a:p>
          <a:p xmlns:a="http://schemas.openxmlformats.org/drawingml/2006/main">
            <a:pPr algn="l"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Deployment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787D7-EDAD-4228-9045-C431E2E2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81434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B3014-2512-49B7-BA7C-DC8EEC4E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GO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6123C-E44D-4FB9-B4A5-DC9ECE74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2E100-620B-4492-900B-7656BC6F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13636-8554-4663-8862-6DB27A8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Sell the incident, then the control plane.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2C0EA-3915-44AB-B9B3-BBDB5DF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founder-led proof motion focused on repositories where the failure can be reproduced and 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FB0A4-227E-4C6D-815F-D7608979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14D1-5503-4EF4-8247-CE2A40F5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1435D-1BB3-44A3-BF68-512725C4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15-minute destructive-worktree test on an approved repo or disposable reproduction.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71133-57C5-4402-AE9C-A7EAE2A9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191F8-47DF-4B0C-A11C-E41F947C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D8588-09F5-4204-B0DE-DAA6D60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Compare native workflow vs Holt on holds, false confidence, recovery, and operator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468DA-28A2-4029-B2D0-6627A6F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5EB77-E387-42D7-AC47-7373DE2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6DAFC-3023-403D-92A2-39A4DD49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Weekly use across live agent work; build references and a failure corpus.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2353B-B966-427B-91ED-28569682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63192-5963-4BA1-8B1D-DA38F821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8BBEE-19B1-4526-854B-33C2B1E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Integrate GitHub/CI and an agent host only after the local seam earns trust.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4BE9F-BE4E-48B4-9B2F-5F9B8F0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8B095-7755-4923-AFB1-DA231F8D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12-WEEK TARGET: 10 DESIGN PARTNERS • 3 PAID EVALUATIONS • 2 REFERENCES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68419-A3ED-412C-8289-C71F9FD0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1815706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C6DC2-0301-4E13-9CE0-ADA3E911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8C9C5-F6B9-4237-90BE-04B0B7A8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5E344-7641-4C6C-B88C-31EB5F7C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6658A-C640-42DB-8F40-B3A32D7E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Fund proof, not breadth.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BCAD9-D747-42FF-BC57-4CFBC081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Three de-risking gates convert founder-use evidence into a company—or falsify the wedge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E4A00-7F08-46AC-92BE-D6701224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F1B3A-4A3D-42CE-9C2B-87490458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WEEKS 0–4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0F1E2-A603-4791-A517-224E7855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RELEASE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70AD6-704F-4AD0-91CF-2ECFA3E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Exact-head install and semantics across declared Linux, macOS, and Windows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99C0A-2A1F-431F-B59A-A0C158B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1462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D2DD1-34FE-4B5E-96A1-877E67BC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WEEKS 3–8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25B54-AD5A-4845-9443-27E2381B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REPEATED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AAB7-C900-471A-A58B-AF15123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Design partners use Holt weekly; incidents produce replayable evidence and 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10642-D767-4244-8C02-D5C22BE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0136C-80AD-443F-82AE-106CEEC6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WEEKS 7–12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3F65A-692C-426C-A87A-3F7259A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PAID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647FD-11B8-47BE-A81E-8C1CAD6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Written acceptance tests, one GitHub/CI path, one agent-host path, and budget signal.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87CF0-1BFA-43F0-92C2-46F3599F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Kill criteria are explicit: if teams do not repeat the workflow or pay for the seam, narrow or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55ABD-29AA-41CB-8DCD-68D7B18E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564010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E9E31-01AD-426B-B8D5-89233792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RAISE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F06FB-13BA-4ECA-BF6A-673E61B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29543-CCFB-4596-B047-5F2A34CA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6C15C-E70B-41C1-B30C-56A6B79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$1M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B4FAD-51D7-4277-BFDE-183F8BB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18-month pre-seed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FA3B8-D7C3-4828-8445-8A36B65C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amount, instrument, valuation, and team plan require founder and legal confirmation.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37E75-9CCA-4ACF-9F3A-7DB831EE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066800"/>
            <a:ext cx="55435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67D14-B445-4AC9-8677-71E806B2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WHAT CAPITAL MUST 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6796A-65B4-42D8-8AA2-0E308AF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1.  10 design-partner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F05C8-2080-4AA1-92EA-6A37F28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050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2.  3 paid evaluations or pilots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FF801-ABB7-4625-A634-6A3E80A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575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3.  A repeatable incident and recovery corpus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29A33-F17E-4B9E-A3B7-C9F4521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4.  Linux / macOS / Windows release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CB492-E40D-43D8-B122-A6C3D37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5.  One CI path + one agent-host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66E8E-38AB-4CEB-97C7-1D4CE9CD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PRE-SEED / AUGUST 2026</a:t>
            </a:r>
          </a:p>
        </p:txBody>
      </p:sp>
    </p:spTree>
    <p:extLst>
      <p:ext uri="{BB962C8B-B14F-4D97-AF65-F5344CB8AC3E}">
        <p14:creationId xmlns:p14="http://schemas.microsoft.com/office/powerpoint/2010/main" val="20489089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6A07E-A233-4989-90E5-0D39B3CE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THE BET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5174C-57F1-4FDD-B631-B6B135A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autonomous coding system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will need an independent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repository transaction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26FD1-467A-44ED-9736-BD9E239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Holt starts with the moment developers cannot afford to get wrong: deciding what is safe to destroy—and proving how to recover.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BCBAC-2C2C-4E3E-A991-FD8E868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research.contrare@outlook.com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62CDC-31A1-4188-9A09-6E74DE1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4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github.com/Raed2180416/holt</a:t>
            </a:r>
          </a:p>
        </p:txBody>
      </p:sp>
    </p:spTree>
    <p:extLst>
      <p:ext uri="{BB962C8B-B14F-4D97-AF65-F5344CB8AC3E}">
        <p14:creationId xmlns:p14="http://schemas.microsoft.com/office/powerpoint/2010/main" val="722298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2026-08-11T09:14:17.5840000Z</dcterms:created>
  <dcterms:modified xsi:type="dcterms:W3CDTF">2026-08-11T09:14:17.5840000Z</dcterms:modified>
</coreProperties>
</file>