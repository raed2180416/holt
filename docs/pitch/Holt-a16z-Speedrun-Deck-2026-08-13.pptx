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ced3c3b8a409a" /><Relationship Type="http://schemas.openxmlformats.org/officeDocument/2006/relationships/extended-properties" Target="/docProps/app.xml" Id="R41f9de8e53f14730" /><Relationship Type="http://schemas.openxmlformats.org/officeDocument/2006/relationships/officeDocument" Target="/ppt/presentation.xml" Id="R526429955e72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b0d2688604cdc"/>
  </p:sldMasterIdLst>
  <p:notesMasterIdLst>
    <p:notesMasterId xmlns:r="http://schemas.openxmlformats.org/officeDocument/2006/relationships" r:id="R12c1c6e2357d4ae0"/>
  </p:notesMasterIdLst>
  <p:sldIdLst>
    <p:sldId xmlns:r="http://schemas.openxmlformats.org/officeDocument/2006/relationships" id="256" r:id="R407d1a9a3509476f"/>
    <p:sldId xmlns:r="http://schemas.openxmlformats.org/officeDocument/2006/relationships" id="257" r:id="Ra42d622312e44723"/>
    <p:sldId xmlns:r="http://schemas.openxmlformats.org/officeDocument/2006/relationships" id="258" r:id="Rd517f5cbd8e04930"/>
    <p:sldId xmlns:r="http://schemas.openxmlformats.org/officeDocument/2006/relationships" id="259" r:id="R9fbfc04b293e400e"/>
    <p:sldId xmlns:r="http://schemas.openxmlformats.org/officeDocument/2006/relationships" id="260" r:id="Ra6ccda66c4044b53"/>
    <p:sldId xmlns:r="http://schemas.openxmlformats.org/officeDocument/2006/relationships" id="261" r:id="R826cf2a6ef974205"/>
    <p:sldId xmlns:r="http://schemas.openxmlformats.org/officeDocument/2006/relationships" id="262" r:id="R55d3680dc4cc4fa8"/>
    <p:sldId xmlns:r="http://schemas.openxmlformats.org/officeDocument/2006/relationships" id="263" r:id="R9119ba8b379b4317"/>
    <p:sldId xmlns:r="http://schemas.openxmlformats.org/officeDocument/2006/relationships" id="264" r:id="Ra034d35ba5064f65"/>
    <p:sldId xmlns:r="http://schemas.openxmlformats.org/officeDocument/2006/relationships" id="265" r:id="R0036c29de7c34bee"/>
    <p:sldId xmlns:r="http://schemas.openxmlformats.org/officeDocument/2006/relationships" id="266" r:id="R252babe861bf47de"/>
    <p:sldId xmlns:r="http://schemas.openxmlformats.org/officeDocument/2006/relationships" id="267" r:id="Rcec6f5dc609a4bc4"/>
    <p:sldId xmlns:r="http://schemas.openxmlformats.org/officeDocument/2006/relationships" id="268" r:id="R69529c5cbf8e46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12860cd7fd406c" /><Relationship Type="http://schemas.openxmlformats.org/officeDocument/2006/relationships/slideMaster" Target="/ppt/slideMasters/slideMaster1.xml" Id="R974b0d2688604cdc" /><Relationship Type="http://schemas.openxmlformats.org/officeDocument/2006/relationships/notesMaster" Target="/ppt/notesMasters/notesMaster1.xml" Id="R12c1c6e2357d4ae0" /><Relationship Type="http://schemas.openxmlformats.org/officeDocument/2006/relationships/presProps" Target="/ppt/presProps.xml" Id="R3cbe79911ccb4352" /><Relationship Type="http://schemas.openxmlformats.org/officeDocument/2006/relationships/tableStyles" Target="/ppt/tableStyles.xml" Id="R9f96edef387547af" /><Relationship Type="http://schemas.openxmlformats.org/officeDocument/2006/relationships/slide" Target="/ppt/slides/slide1.xml" Id="R407d1a9a3509476f" /><Relationship Type="http://schemas.openxmlformats.org/officeDocument/2006/relationships/slide" Target="/ppt/slides/slide2.xml" Id="Ra42d622312e44723" /><Relationship Type="http://schemas.openxmlformats.org/officeDocument/2006/relationships/slide" Target="/ppt/slides/slide3.xml" Id="Rd517f5cbd8e04930" /><Relationship Type="http://schemas.openxmlformats.org/officeDocument/2006/relationships/slide" Target="/ppt/slides/slide4.xml" Id="R9fbfc04b293e400e" /><Relationship Type="http://schemas.openxmlformats.org/officeDocument/2006/relationships/slide" Target="/ppt/slides/slide5.xml" Id="Ra6ccda66c4044b53" /><Relationship Type="http://schemas.openxmlformats.org/officeDocument/2006/relationships/slide" Target="/ppt/slides/slide6.xml" Id="R826cf2a6ef974205" /><Relationship Type="http://schemas.openxmlformats.org/officeDocument/2006/relationships/slide" Target="/ppt/slides/slide7.xml" Id="R55d3680dc4cc4fa8" /><Relationship Type="http://schemas.openxmlformats.org/officeDocument/2006/relationships/slide" Target="/ppt/slides/slide8.xml" Id="R9119ba8b379b4317" /><Relationship Type="http://schemas.openxmlformats.org/officeDocument/2006/relationships/slide" Target="/ppt/slides/slide9.xml" Id="Ra034d35ba5064f65" /><Relationship Type="http://schemas.openxmlformats.org/officeDocument/2006/relationships/slide" Target="/ppt/slides/slide10.xml" Id="R0036c29de7c34bee" /><Relationship Type="http://schemas.openxmlformats.org/officeDocument/2006/relationships/slide" Target="/ppt/slides/slide11.xml" Id="R252babe861bf47de" /><Relationship Type="http://schemas.openxmlformats.org/officeDocument/2006/relationships/slide" Target="/ppt/slides/slide12.xml" Id="Rcec6f5dc609a4bc4" /><Relationship Type="http://schemas.openxmlformats.org/officeDocument/2006/relationships/slide" Target="/ppt/slides/slide13.xml" Id="R69529c5cbf8e46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ed43682c064c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5e9f110a264ffd" /><Relationship Type="http://schemas.openxmlformats.org/officeDocument/2006/relationships/notesMaster" Target="/ppt/notesMasters/notesMaster1.xml" Id="R3ce3cd5340c045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e1265c5ed6452d" /><Relationship Type="http://schemas.openxmlformats.org/officeDocument/2006/relationships/notesMaster" Target="/ppt/notesMasters/notesMaster1.xml" Id="R1fc324cf695649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1f16b2e5d94340" /><Relationship Type="http://schemas.openxmlformats.org/officeDocument/2006/relationships/notesMaster" Target="/ppt/notesMasters/notesMaster1.xml" Id="Rf2c5fea13aad41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e25c1d76504e49" /><Relationship Type="http://schemas.openxmlformats.org/officeDocument/2006/relationships/notesMaster" Target="/ppt/notesMasters/notesMaster1.xml" Id="Rc99f394eae204d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b22d321fb64c59" /><Relationship Type="http://schemas.openxmlformats.org/officeDocument/2006/relationships/notesMaster" Target="/ppt/notesMasters/notesMaster1.xml" Id="Rb911d5d73c8049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1f73fc3ba94f43" /><Relationship Type="http://schemas.openxmlformats.org/officeDocument/2006/relationships/notesMaster" Target="/ppt/notesMasters/notesMaster1.xml" Id="R1d2f93df724242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e0a7b05e1f4919" /><Relationship Type="http://schemas.openxmlformats.org/officeDocument/2006/relationships/notesMaster" Target="/ppt/notesMasters/notesMaster1.xml" Id="R3e3f60ddadf444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43c4f26d614103" /><Relationship Type="http://schemas.openxmlformats.org/officeDocument/2006/relationships/notesMaster" Target="/ppt/notesMasters/notesMaster1.xml" Id="R4a704861f87a48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6fcc2b34d0435d" /><Relationship Type="http://schemas.openxmlformats.org/officeDocument/2006/relationships/notesMaster" Target="/ppt/notesMasters/notesMaster1.xml" Id="R0f012821ead14d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e3b2f194ca4bf4" /><Relationship Type="http://schemas.openxmlformats.org/officeDocument/2006/relationships/notesMaster" Target="/ppt/notesMasters/notesMaster1.xml" Id="R7cd034e537a743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642a536cc14a72" /><Relationship Type="http://schemas.openxmlformats.org/officeDocument/2006/relationships/notesMaster" Target="/ppt/notesMasters/notesMaster1.xml" Id="R0260eb7b52e44f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6f20b4b26a4dff" /><Relationship Type="http://schemas.openxmlformats.org/officeDocument/2006/relationships/notesMaster" Target="/ppt/notesMasters/notesMaster1.xml" Id="Re2b8d2a23b844e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d48082330b46ea" /><Relationship Type="http://schemas.openxmlformats.org/officeDocument/2006/relationships/notesMaster" Target="/ppt/notesMasters/notesMaster1.xml" Id="R9148f21d485547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bounded category: Holt is the local transaction and recoverability layer for parallel coding-agent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Earned secret: Holt emerged from building ARC and confronting repository coordination at real concurrency. The 54-worktree snapshot is founder-use evidence, not customer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now: agent execution is becoming parallel and increasingly autonomous, while repository coordination remains fragmented across branches, worktrees, and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https://openai.com/index/introducing-the-codex-app/</a:t>
            </a:r>
          </a:p>
          <a:p xmlns:a="http://schemas.openxmlformats.org/drawingml/2006/main">
            <a:r>
              <a:t>- https://claude.com/product/claude-code</a:t>
            </a:r>
          </a:p>
          <a:p xmlns:a="http://schemas.openxmlformats.org/drawingml/2006/main">
            <a:r>
              <a:t>- https://git-scm.com/docs/git-worktree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Differentiation: Holt does not replace the coding agent. It supplies provider-neutral local evidence and exact gates on declared action paths; arbitrary filesystem and unconfigured hosts remain outside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</a:t>
            </a:r>
          </a:p>
          <a:p xmlns:a="http://schemas.openxmlformats.org/drawingml/2006/main">
            <a:r>
              <a:t>- https://github.com/Raed2180416/holt/blob/main/README.md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demo flow: observe, connect, decide, preserve. Emphasize local-first operation, native Git state, and recoverable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product execution, not claimed market traction. Distribution has not begun; host and operating-system coverage remain graded rather than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</a:t>
            </a:r>
          </a:p>
          <a:p xmlns:a="http://schemas.openxmlformats.org/drawingml/2006/main">
            <a:r>
              <a:t>- https://github.com/Raed2180416/holt/blob/main/docs/FEATURE-PROOF-MATRIX.md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Beachhead hypothesis: engineering teams already operating multiple coding agents in one active repository. Design partners must validate urgency and repeated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https://github.com/Raed2180416/holt/blob/main/docs/launch/DESIGN-PARTNER-PROGRAM.md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Compounding is a hypothesis: permissioned incident reproductions can improve evidence and recovery tests without a cross-customer telemetry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https://github.com/Raed2180416/holt/blob/main/docs/FEATURE-PROOF-MATRIX.md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path: the FSL source-available local core builds inspectability; collaboration, policy, signed aggregation, support, and fleet governance are unvalidated paid hypotheses.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https://github.com/Raed2180416/holt/blob/main/docs/launch/PRESEED-BRIEF.md</a:t>
            </a:r>
          </a:p>
          <a:p xmlns:a="http://schemas.openxmlformats.org/drawingml/2006/main">
            <a:r>
              <a:t>- https://github.com/Raed2180416/holt/blob/main/LICENSE.md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GTM is incident-led and founder-led. Prove value on a real approved repository, earn repeat use, then expand into the shared control plane.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https://github.com/Raed2180416/holt/blob/main/docs/launch/DESIGN-PARTNER-PROGRAM.md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12-week validation targets, not current traction. They align to Speedrun's focus on rapid execution, customer progress, and validated business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https://speedrun.a16z.com/faq</a:t>
            </a:r>
          </a:p>
          <a:p xmlns:a="http://schemas.openxmlformats.org/drawingml/2006/main">
            <a:r>
              <a:t>- https://a16z.com/speedrun/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claims on this slide are deliberately limited to repository-verifiable Holt/ARC work. Replace RAED with the verified full name before forwarding outside the submitted application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</a:t>
            </a:r>
          </a:p>
          <a:p xmlns:a="http://schemas.openxmlformats.org/drawingml/2006/main">
            <a:r>
              <a:t>- https://speedrun.a16z.com/faq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category future: autonomous software factories need an independent source of repository truth. Invite a product demo and founder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https://github.com/Raed2180416/holt</a:t>
            </a:r>
          </a:p>
          <a:p xmlns:a="http://schemas.openxmlformats.org/drawingml/2006/main">
            <a:r>
              <a:t>- https://a16z.com/speedrun/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4cc13bbbb4d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becd0c819b4cb4" /><Relationship Type="http://schemas.openxmlformats.org/officeDocument/2006/relationships/slideLayout" Target="/ppt/slideLayouts/slideLayout1.xml" Id="R4515c664471041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15c664471041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7dd28f33f4bd8" /><Relationship Type="http://schemas.openxmlformats.org/officeDocument/2006/relationships/notesSlide" Target="/ppt/notesSlides/notesSlide1.xml" Id="R960355d5a9d047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05fe3c59a4f5f" /><Relationship Type="http://schemas.openxmlformats.org/officeDocument/2006/relationships/notesSlide" Target="/ppt/notesSlides/notesSlide2.xml" Id="Rf01eea36fe4344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46a1c91514ddc" /><Relationship Type="http://schemas.openxmlformats.org/officeDocument/2006/relationships/notesSlide" Target="/ppt/notesSlides/notesSlide3.xml" Id="R0cfbc2e94f904a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dea1a6742457a" /><Relationship Type="http://schemas.openxmlformats.org/officeDocument/2006/relationships/notesSlide" Target="/ppt/notesSlides/notesSlide4.xml" Id="Rb1f8456ca48a40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bf7c487254e61" /><Relationship Type="http://schemas.openxmlformats.org/officeDocument/2006/relationships/notesSlide" Target="/ppt/notesSlides/notesSlide5.xml" Id="R1cb6bbcb11a742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42ec37b0e4522" /><Relationship Type="http://schemas.openxmlformats.org/officeDocument/2006/relationships/notesSlide" Target="/ppt/notesSlides/notesSlide6.xml" Id="R68cae824f3ff40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8b3cb6d51465a" /><Relationship Type="http://schemas.openxmlformats.org/officeDocument/2006/relationships/notesSlide" Target="/ppt/notesSlides/notesSlide7.xml" Id="Rfeb19bdb5c0741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f4b11cd5b49aa" /><Relationship Type="http://schemas.openxmlformats.org/officeDocument/2006/relationships/notesSlide" Target="/ppt/notesSlides/notesSlide8.xml" Id="Rb533de76744249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c7caf187343cf" /><Relationship Type="http://schemas.openxmlformats.org/officeDocument/2006/relationships/notesSlide" Target="/ppt/notesSlides/notesSlide9.xml" Id="R5e32cdb5b16e43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db8b63c914281" /><Relationship Type="http://schemas.openxmlformats.org/officeDocument/2006/relationships/notesSlide" Target="/ppt/notesSlides/notesSlide10.xml" Id="R09a2d16797b043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28b1c74d74832" /><Relationship Type="http://schemas.openxmlformats.org/officeDocument/2006/relationships/notesSlide" Target="/ppt/notesSlides/notesSlide11.xml" Id="R5d0960e0dc4f43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93c74244d4970" /><Relationship Type="http://schemas.openxmlformats.org/officeDocument/2006/relationships/notesSlide" Target="/ppt/notesSlides/notesSlide12.xml" Id="Raacd535679dc4b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940d0d16a47a9" /><Relationship Type="http://schemas.openxmlformats.org/officeDocument/2006/relationships/notesSlide" Target="/ppt/notesSlides/notesSlide13.xml" Id="R6f580f6cf8034d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0930C-5927-411F-94BE-37334A4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HOLT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CAFA9-5720-4C78-9F39-CC5EB793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0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transaction and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recoverability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B27D2-EEC2-45E5-B697-B5EB53C5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Holt turns risky local repository actions into inspectable decisions with explicit recovery routes.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E44F8-B5CE-4524-96A0-F5F2C4D3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5246D-FA1A-402E-96C9-B4360AC8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10125"/>
            <a:ext cx="1181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A16Z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SPEEDRUN</a:t>
            </a:r>
          </a:p>
        </p:txBody>
      </p:sp>
    </p:spTree>
    <p:extLst>
      <p:ext uri="{BB962C8B-B14F-4D97-AF65-F5344CB8AC3E}">
        <p14:creationId xmlns:p14="http://schemas.microsoft.com/office/powerpoint/2010/main" val="4073283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DDEC3-86CE-4F49-A1CF-BFE4E508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EARNED SECRET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B060C-C398-42CD-9FFE-E7A5F5AE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12ADB-2D5E-4492-8A46-B2057D11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A5728-624E-43E6-8540-02C030D8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18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Parallel agents broke the one-branch mental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D274A-5948-477B-991D-182801D2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In my own development repository, agent speed became useless when I could no longer prove what local work was unique, recoverable, or safe to move.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1BE01-6E96-4554-8A74-DA62F035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E5988-2724-475B-A6AD-147FF882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76050-95F2-4B59-8136-08E01EE8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54 WORKTREES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ECBF0-8E7C-4567-B795-15B84436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2914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 founder-repository snapshot—not customer traction—made manual coordination impossible.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30FF0-DC8E-4A4C-AF8B-23F5F2B0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241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90036-8F7F-47AE-88F3-ADFC123F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4E9B5-ED0B-4FB9-809D-14A85AD5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29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MIXED LOCAL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9DBC1-34DE-4104-B600-FB9DE855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43350"/>
            <a:ext cx="2914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Unique, overlapping, ignored, stashed, and interrupted work looked deceptively similar.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F038B-1F64-44C7-8056-840F0C7C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EA62A-1FEA-4372-9B6F-863580DB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3C2D8-5157-4685-A358-6CFB4005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THE INSIGHT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67AF5-423E-4D39-9F87-37A588F7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2914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missing infrastructure is not another agent. It is independent repository truth.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C11F8-E9E0-4F97-B0B8-CB29037D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36122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D42BB-1B92-46A9-90B6-E5CAEF33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F5344-FB46-4DD7-BFB1-A73CD2EA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FD8BE-5F5D-416B-831F-EBF829F5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12929-54C0-4E79-ABF1-675FC68F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1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Software creation is becoming parallel.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BD6EA-77D3-4ED0-A493-58FE28CC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Repository coordination is still serial.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EA847-8B5F-46C0-9FE6-DF5CC4EF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3429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4AE67-443E-4996-BDAB-4CE1D873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MORE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B2F2F-6ECD-486A-93FF-5D7BF892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Claude Code, Codex, Copilot, and internal agents now work side by side.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D036D-C711-4704-9211-AF83D9D5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81375"/>
            <a:ext cx="3429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15514-54BA-4BBF-8E04-8B3CA951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MORE AUTONOMY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19A20-29FB-48DE-AAB0-90FCB4F2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Agents increasingly branch, patch, apply, merge, and clean without continuous supervision.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07394-B173-4216-85AF-752A106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81375"/>
            <a:ext cx="3429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0005B-99F3-4D1E-AF54-7C8C0D4A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NEW CONTROL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BD276-B0F2-447D-BE1F-B6E68D8C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Teams need one independent layer for supported local repository state across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2177A-D1AA-41D8-85FB-0A67785B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328792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35184-B080-4608-B2A4-3D7FF020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THE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A0CCA-5234-45E7-8607-53451383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C8E0F-8DC5-42F3-B763-4379C1D7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3CD23-32DC-4C9D-B2BE-9EF2C5D7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847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Holt is provider-neutral repository transaction infrastructure.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2669F-C7D3-419F-A3A2-8FB864FB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It observes supported local state, separates exact authority from advice, and gates declared action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CAF70-C552-4619-8725-524CB94F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5143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CCAC5-06E5-4FF0-9A78-C45021D2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55435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66B14-26F9-4273-9FB8-DD932FFB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EACH AGENT ALONE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E1943-AC25-4BB4-B5B2-76830E38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238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Partial repository view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Private confidence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Different cleanup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DE45B-3AF7-4AB2-BFFA-7CBEC76A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ONE SHARED TRUTH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6D167-FCF0-4150-B0D0-22F4FEA3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4476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Cross-workstream evidence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Recoverable decisions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Agent-neutral policy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safe next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2347E-F2FB-4CEF-A775-E87224CF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48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Scale agents without surrendering control.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5F283-4A96-4EC9-972B-872E2D93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77015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AEF812-FC77-4479-B738-1B46FE38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CEFBF-D330-4C49-BA7C-F8C0C2AE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48162-6115-4705-9006-15920785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6321A-0354-43EA-85E2-CFA1C7C6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From repository chaos to one safe next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596A9-1953-4953-8711-22821F4B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Today, Holt turns live Git and worktree state into an inspectable decision—locally, without uploading source.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9ADD4-E6E6-4166-84B6-535AB5ED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D631C-F9BE-403D-9A30-BBF42ECC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657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AF3EB-FEF6-41B2-A864-0B8EDFDC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4805F-0A0B-4E53-9E9F-07E334E9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5C284-8AAD-4F77-851F-132C3336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Map worktrees, branches, stashes, uncommitted bytes, receipts, and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9BB1C-2551-42A7-B5E0-DCAD081A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7657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469E0-1837-497D-8CD9-4B34FDD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81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D9871-C406-4593-870A-F45E69D2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D3DBF-BAF1-4776-91F7-6F0BE330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339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Build one evidence graph across tasks, agents, hosts, and repository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A3410-E5CA-44EE-8CE4-FCE2A997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7657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00DE8-B58B-449C-A858-2871BDF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AF6A3-08E2-4209-86CC-465C3101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90A36-7D31-403D-BEC7-5FAE518B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Return the safest next action before risky Git or worktree operations.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94462-9677-446E-9CAD-DF9D477F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76575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B4F3C-D10C-4E1F-B037-241EEAE7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81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4FE55-3CEC-462C-99C3-DECC1523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14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PRESERVE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6A5F7-76E8-48B7-A368-F1A8103C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339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Quarantine first; keep journals and rescue references for rollback.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8A6B9-E866-4D59-8EE3-930A218C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1647954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BB7B1-CCA1-4641-8C03-D388013B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PRODUCT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84B41-C38F-4C03-A7AB-B9C039DD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0D2FB-058C-4856-90B2-077B5F08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6BF3B-A606-4A81-93A3-2CAF6228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2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A working local product. Distribution has not begun.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6A50-0FD0-44EC-AA67-E721D8D0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is source-available today; integration and operating-system coverage are explicitly graded.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44F03-44C1-4BDA-88D0-05B9BF1E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5543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EC58C-6F3E-45D6-807A-A5E5ECF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SHIPPED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941C6-E60A-4311-A32B-20E481B6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Local-first 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E66D4-AD61-44C4-936F-7F57F0B5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Repository evidence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DD112-56C5-47CA-83CB-05BC80B6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Risk gates + strict-read-only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5335E-C1EE-4A57-9E96-EE1E15D8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Recoverable quarantine + journal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E8BA7-60CE-413A-8349-6D852142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Hash-chained local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57F45-62DB-4903-9AA3-E88DA13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543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E907A-25A0-46BE-B874-24CA00B2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GRADED INTEGRATIONS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255A8-BF38-4247-B64C-D3ECCEB5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05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MCP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F4100-E560-4493-B02A-B86143CE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GitHub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0EACA-A4D5-4601-90A0-A04AD396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Contract-tested host adapters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F28EB-32AC-4487-A8A1-70CCA0C5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Declared Linux, macOS + Windows paths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ACA60-E722-492E-AAB2-2B093336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• Install, release, and supply-chain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B01FF-1E44-4FF6-BB05-8ED1A5EC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252572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E6154-9EA5-45B1-96C5-B13D4017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BEACHHEAD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E1180-085C-470C-84D9-0F8F522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1DA5E-C9B5-4FE7-AE31-A1EABBA7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018EC-A76E-4941-8D22-48A28825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12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First wedge: teams already running multiple coding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DB056-4B16-4379-B18F-763224C0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enters where parallel execution is already valuable—and repository coordination has become the bottleneck.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84D79-5262-4BAC-8686-6853CB69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F98CD-1440-46F6-AA93-D94F793B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670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Engineer running several coding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06F22-3ED6-4CB4-9689-B1C93946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Needs a trustworthy answer before agents move, merge, clean, or delete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9E259-3087-4018-B147-A2988E8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1AF42-E8B9-4F2D-8F3E-38071DD5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38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14707-468A-404C-81D9-CA21303E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671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AI platform / developer productivity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FA2D8-2E1B-430F-B7E9-931DB00E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712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Wants to scale agent throughput across teams without multiplying operational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B93E8-4DFD-4BB2-88A9-06FEB443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0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CCE8C-1363-458E-8D17-24AB3CFF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BUYER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BB27F-9344-44E0-87FC-2719012A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VP Engineering / platform 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410B4-EAA6-4F6D-8190-D351DDE2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Owns productivity, incident risk, governance, and the path to an enterprise standard.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B992D-254C-4195-ACE7-5898917E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C28AB-CC7A-401C-8689-57F58B1C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157461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85524-7447-4EBF-8D26-9633122A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WHY THIS COMPOUNDS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20312-C985-4B15-9EE3-4D606172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2BB4A-2EC2-4A8D-ADBC-08C49905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9D023-06E7-46C8-9B70-9F19167D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A permissioned incident corpus can compound.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F6797-D5F8-4B1B-93B3-2D23A161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Each permissioned incident can become a regression case; no cross-customer telemetry flywheel is claimed.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04D48-6F26-429B-8924-B604A760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54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91A82-0AAE-4E82-BC7B-A104F9D5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REPOSITORY EVIDENCE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05C17-7F8C-4FC9-ABB4-557FD6DF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 shared model of work, risk, effects, and recovery across observed local workstreams.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952B7-F64F-4058-967D-02B482AA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554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310E4-17FF-4371-BC95-86D8052F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RECOVERY CORPUS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A3231-16C9-433C-87CE-49795863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Permissioned reproductions become durable tests for hold, quarantine, restore, and reconciliation.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F0CB7-DA44-4856-B02F-1BD80249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54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61E49-EEE8-4D0E-9A60-7840EB1D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CROSS-SYSTEM INTEROPERABILITY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530D3-7C50-4E6F-A174-BCA349BA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 target for separately observed semantics across operating systems, CI, IDEs, and agent hosts.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E4612-45C2-44ED-97BF-B8F16F61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543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DDB0A-FFEC-440A-8CD0-DC939A0C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AGENT-NEUTRAL STANDARD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10988-EA4F-40D5-9468-BC556563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Provider neutrality widens Holt's relevance without pretending every host is already integrated.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C2CC8-20CC-4619-9272-BA82E91D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1682170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A0EE3-D03B-432C-ACB7-9D82A0CC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B6053-12F1-4AF9-A31B-DBA4A4D3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ACA87-694D-4624-8079-B5976CA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01EA3-808D-4FDB-A659-5501A968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68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Source-available core earns trust. Team pricing is unvalidated.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317F2-2F00-4C21-AC9D-A030F0D0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Hypothesis: shared policy, signed aggregation, support, and fleet governance create paid expansion.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A7D8C-2A0F-43D7-858B-C26EDB3C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9AC07-2050-4691-9930-9C5AEBE3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ADOPTION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C1E04-C0F1-402B-AEF1-DA1B4EB9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F6D94-DD9F-4159-9E96-8218615A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Local evidence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Recoverable cleanup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Provider-neutral gates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8FA01-A3E5-427B-A25D-24466EAB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051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DC3CA-09C3-4B44-B73C-6CD1CDCB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HYPOTHESIS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8D4AD-5A3E-4798-8CD8-388996C5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09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34AB5-9480-40C0-810A-4E9CD065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957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Shared policies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Approvals + incidents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Team integrations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3EB60-6220-4142-AD97-0E277AF3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3429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6B7E1-82A7-48BA-B8A3-AD074D7E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HYPOTHESIS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581E7-C0CB-413A-B550-43F12B15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ENTERPRISE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B5650-5535-4994-84E4-B24CB005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Fleet governance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Identity + audit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Deployment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010B4-44CB-4EC7-92E6-9388819F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17738790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3276D-D07A-48EC-BECE-E2AE325A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GO TO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73E11-0F27-4EF9-AA6E-602266B0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A6DF5-CAE5-4FBE-BDFF-89A3DB8D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13A15-4F53-49B5-BD21-A54FBC38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Prove one incident. Earn one repeated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F2326-2E42-4C04-B5D6-755D43A4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 founder-led validation motion on approved repositories, with explicit controls and a paid acceptance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841A4-BB72-4B6F-83E1-A76E62D8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87532-EE98-46CE-89FB-238F95E3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A511B-21ED-4C68-A281-C198CC03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Find teams where multiple agents already create coordination and recovery pain.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53499-8CEC-4485-80CD-F7E1A886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62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6F5BD-CC58-40FD-A0BE-08405923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30F7E-A185-4492-82C4-33A7EF78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Run Holt on an approved repository and show a safer, clearer next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658C3-D03A-48F5-9514-E570D220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B2D82-EBB4-4607-BC6F-A8E12A44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52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EMBED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C8575-6DFD-4E30-9E82-A74F8922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Earn repeat use on one consequential cleanup or landing seam.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2E7B5-5900-4BF7-9D9A-5156EA64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28202-276A-47E2-9061-F8D726DF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STANDARDIZE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1B6F8-1603-44FE-9A77-9362F5F4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10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Expand from one workflow into shared policy, CI, agent hosts, and fleet governance.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8EA34-270F-43FA-8CDC-4CECC700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861B8-106C-475E-8BE4-3F4795A4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 QUALIFIED CONVERSATIONS • 3 INSTALLS • 1 REPEAT WORKFLOW • 1 PAID 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55BE2-E714-4D8C-9224-191E0B98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907914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A10C2-F3B8-496B-9816-962338E1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SPEEDRUN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2597C-67C3-4D00-B4D4-A4B35665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38E18-75B5-4190-B300-E6EE1623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00E22-699A-4311-B0E0-E42B3504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Test the company case in 12 weeks.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4B147-8B95-47F3-B03A-3C27C591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goal is outside repeat use on one consequential cleanup or landing seam—not internal feature count.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A2D75-DEAB-412A-BE58-93EC6926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3429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0346F-B685-4B40-97E2-81556114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WEEKS 1–4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9CEAB-1783-4FB1-B8DC-8002BC43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DESIGN PARTNERS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0B092-EBB7-4EA5-AD78-88524FC9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10 qualified conversations; 3 approved installations on multi-agent repositories.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81B19-1129-4C4E-A270-AA861CC1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14625"/>
            <a:ext cx="3429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982B9-7373-492F-B7C4-837DAD04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52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WEEKS 5–8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CA538-AA1C-41B2-908B-4038569C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29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REPEAT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67A0D-8F6C-46EC-815C-FBDCDA49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43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5 witnessed incidents; 3 changed actions; 1 team repeats the workflow weekly.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502D4-DD96-42B4-A376-0F6D5AFF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3429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6C19C-FA0D-4867-8D9B-9F4FEA22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WEEKS 9–12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9CF18-3FA8-4F1A-BE63-2FA9985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PAID PULL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D1FD3-5185-42F9-9FE7-D6CDBEBF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 paid evaluation with a written acceptance test; 1 permissioned reference.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8E383-15CE-4C85-9C32-518528B3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SUCCESS: AN OUTSIDE TEAM REPEATS AND PAYS FOR ONE CONSEQUENTIAL SEAM.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F536A-B22E-441D-863D-65C4187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738487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1602E-15EA-4565-AF77-62DBC9FD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FOUNDER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37F81-7B68-4DB2-8755-D3781D51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0A2D7-8A58-4FB8-87B7-A2B75A9F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D0BE6-2C1B-4CF6-AB3F-02D2404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173F35"/>
                </a:solidFill>
                <a:latin typeface="Helvetica Neue"/>
                <a:ea typeface="Helvetica Neue"/>
                <a:cs typeface="Helvetica Neue"/>
              </a:rPr>
              <a:t>RAED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CE022-2974-4629-9F8C-434516FB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Solo technical founder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6705B-A8BA-42CB-A4C1-9F9FF1A6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While building ARC, I hit this failure at scale and shipped Holt as the infrastructure I needed.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E355E-484C-4214-95F3-2E1DE33A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066800"/>
            <a:ext cx="55435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7D6CC-83F3-4295-89D5-3B9339DF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52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66A4A"/>
                </a:solidFill>
                <a:latin typeface="Helvetica Neue"/>
                <a:ea typeface="Helvetica Neue"/>
                <a:cs typeface="Helvetica Neue"/>
              </a:rPr>
              <a:t>WHY I CAN BUILD THIS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2D975-4581-4BEA-8A7A-7736FA84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1.  Built Holt end to end: evidence model, CLI, MCP, Action, adapters, docs, and release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264D6-3474-4A8E-ACB5-5ECF92B3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050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2.  Building ARC: an ambitious local AI engineering system whose scale exposed the repository coordination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D5260-4E85-4AA3-A4C0-C9165713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575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0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3.  Built adversarial proof and mutation gates around recoverability boundaries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15FD3-524A-467D-8808-0E903DF2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99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4.  Audited 55 post-release commits and converted gaps into reproducible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BDA03-02C8-44C6-96C0-A4770C1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624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231D"/>
                </a:solidFill>
                <a:latin typeface="Helvetica Neue"/>
                <a:ea typeface="Helvetica Neue"/>
                <a:cs typeface="Helvetica Neue"/>
              </a:rPr>
              <a:t>5.  Recruiting next: a systems engineer and a design-partner / GTM operator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73155-E78A-4916-9EC1-AD136CDA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HOLT / A16Z SPEEDRUN / AUGUST 2026</a:t>
            </a:r>
          </a:p>
        </p:txBody>
      </p:sp>
    </p:spTree>
    <p:extLst>
      <p:ext uri="{BB962C8B-B14F-4D97-AF65-F5344CB8AC3E}">
        <p14:creationId xmlns:p14="http://schemas.microsoft.com/office/powerpoint/2010/main" val="2441608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DBFCF-F87F-4041-9FA1-646FDA60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THE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92AC8-C57A-4E03-BA17-F073D76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057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 coding agents multiply,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teams need a shared source of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repository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B4FDF-5815-4346-9104-58034A34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4D8"/>
                </a:solidFill>
                <a:latin typeface="Helvetica Neue"/>
                <a:ea typeface="Helvetica Neue"/>
                <a:cs typeface="Helvetica Neue"/>
              </a:rPr>
              <a:t>Holt's bet: become the local transaction and recoverability layer beneath parallel software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AB62D-B44B-4AC0-9CFB-4A3FBBBC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research.contrare@outlook.com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8D5BB-2E8A-4C9A-A520-AD756D2F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48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github.com/Raed2180416/holt</a:t>
            </a:r>
          </a:p>
        </p:txBody>
      </p:sp>
    </p:spTree>
    <p:extLst>
      <p:ext uri="{BB962C8B-B14F-4D97-AF65-F5344CB8AC3E}">
        <p14:creationId xmlns:p14="http://schemas.microsoft.com/office/powerpoint/2010/main" val="90662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2026-08-13T04:49:40.9980000Z</dcterms:created>
  <dcterms:modified xsi:type="dcterms:W3CDTF">2026-08-13T04:49:40.9980000Z</dcterms:modified>
</coreProperties>
</file>